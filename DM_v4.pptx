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82" r:id="rId12"/>
    <p:sldId id="278" r:id="rId13"/>
    <p:sldId id="279" r:id="rId14"/>
    <p:sldId id="280" r:id="rId15"/>
    <p:sldId id="281" r:id="rId16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98.xml"/><Relationship Id="rId10" Type="http://schemas.openxmlformats.org/officeDocument/2006/relationships/tags" Target="../tags/tag103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7"/>
          <p:cNvSpPr/>
          <p:nvPr>
            <p:custDataLst>
              <p:tags r:id="rId1"/>
            </p:custDataLst>
          </p:nvPr>
        </p:nvSpPr>
        <p:spPr>
          <a:xfrm>
            <a:off x="9407236" y="6200775"/>
            <a:ext cx="2789959" cy="657225"/>
          </a:xfrm>
          <a:custGeom>
            <a:avLst/>
            <a:gdLst>
              <a:gd name="connsiteX0" fmla="*/ 2770909 w 2784764"/>
              <a:gd name="connsiteY0" fmla="*/ 0 h 1537855"/>
              <a:gd name="connsiteX1" fmla="*/ 0 w 2784764"/>
              <a:gd name="connsiteY1" fmla="*/ 1537855 h 1537855"/>
              <a:gd name="connsiteX2" fmla="*/ 2784764 w 2784764"/>
              <a:gd name="connsiteY2" fmla="*/ 1537855 h 1537855"/>
              <a:gd name="connsiteX3" fmla="*/ 2770909 w 2784764"/>
              <a:gd name="connsiteY3" fmla="*/ 0 h 1537855"/>
              <a:gd name="connsiteX0-1" fmla="*/ 2789959 w 2789959"/>
              <a:gd name="connsiteY0-2" fmla="*/ 0 h 1537855"/>
              <a:gd name="connsiteX1-3" fmla="*/ 0 w 2789959"/>
              <a:gd name="connsiteY1-4" fmla="*/ 1537855 h 1537855"/>
              <a:gd name="connsiteX2-5" fmla="*/ 2784764 w 2789959"/>
              <a:gd name="connsiteY2-6" fmla="*/ 1537855 h 1537855"/>
              <a:gd name="connsiteX3-7" fmla="*/ 2789959 w 2789959"/>
              <a:gd name="connsiteY3-8" fmla="*/ 0 h 15378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789959" h="1537855">
                <a:moveTo>
                  <a:pt x="2789959" y="0"/>
                </a:moveTo>
                <a:lnTo>
                  <a:pt x="0" y="1537855"/>
                </a:lnTo>
                <a:lnTo>
                  <a:pt x="2784764" y="1537855"/>
                </a:lnTo>
                <a:cubicBezTo>
                  <a:pt x="2786496" y="1025237"/>
                  <a:pt x="2788227" y="512618"/>
                  <a:pt x="278995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6"/>
          <p:cNvSpPr/>
          <p:nvPr>
            <p:custDataLst>
              <p:tags r:id="rId2"/>
            </p:custDataLst>
          </p:nvPr>
        </p:nvSpPr>
        <p:spPr>
          <a:xfrm>
            <a:off x="0" y="5057369"/>
            <a:ext cx="11887200" cy="1801091"/>
          </a:xfrm>
          <a:custGeom>
            <a:avLst/>
            <a:gdLst>
              <a:gd name="connsiteX0" fmla="*/ 0 w 10833100"/>
              <a:gd name="connsiteY0" fmla="*/ 0 h 2628900"/>
              <a:gd name="connsiteX1" fmla="*/ 10833100 w 10833100"/>
              <a:gd name="connsiteY1" fmla="*/ 2628900 h 2628900"/>
              <a:gd name="connsiteX2" fmla="*/ 0 w 10833100"/>
              <a:gd name="connsiteY2" fmla="*/ 2628900 h 2628900"/>
              <a:gd name="connsiteX3" fmla="*/ 0 w 10833100"/>
              <a:gd name="connsiteY3" fmla="*/ 0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3100" h="2628900">
                <a:moveTo>
                  <a:pt x="0" y="0"/>
                </a:moveTo>
                <a:lnTo>
                  <a:pt x="108331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431925" y="1974058"/>
            <a:ext cx="9328150" cy="1508124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431925" y="3507582"/>
            <a:ext cx="932815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 11"/>
          <p:cNvSpPr/>
          <p:nvPr>
            <p:custDataLst>
              <p:tags r:id="rId8"/>
            </p:custDataLst>
          </p:nvPr>
        </p:nvSpPr>
        <p:spPr>
          <a:xfrm rot="21276009">
            <a:off x="-105299" y="-566907"/>
            <a:ext cx="12283612" cy="1658609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38200" y="365124"/>
            <a:ext cx="10515600" cy="89280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38275"/>
            <a:ext cx="10515600" cy="47386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手动输入 6"/>
          <p:cNvSpPr/>
          <p:nvPr>
            <p:custDataLst>
              <p:tags r:id="rId1"/>
            </p:custDataLst>
          </p:nvPr>
        </p:nvSpPr>
        <p:spPr>
          <a:xfrm rot="16200000" flipV="1">
            <a:off x="-1720312" y="1720312"/>
            <a:ext cx="6881248" cy="3440624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254830" y="2787444"/>
            <a:ext cx="8026400" cy="96086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254830" y="3748314"/>
            <a:ext cx="8026400" cy="120507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38200" y="365124"/>
            <a:ext cx="10515600" cy="89280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419226"/>
            <a:ext cx="5181600" cy="47577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419226"/>
            <a:ext cx="5181600" cy="47577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8" y="1733550"/>
            <a:ext cx="5157787" cy="7429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733550"/>
            <a:ext cx="5183188" cy="7429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2024/6/3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100441" y="365125"/>
            <a:ext cx="1253358" cy="5811838"/>
          </a:xfrm>
        </p:spPr>
        <p:txBody>
          <a:bodyPr vert="eaVert">
            <a:normAutofit/>
          </a:bodyPr>
          <a:lstStyle>
            <a:lvl1pPr>
              <a:defRPr sz="48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38199" y="365125"/>
            <a:ext cx="907952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838200" y="363557"/>
            <a:ext cx="10515600" cy="575149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7"/>
          <p:cNvSpPr/>
          <p:nvPr>
            <p:custDataLst>
              <p:tags r:id="rId1"/>
            </p:custDataLst>
          </p:nvPr>
        </p:nvSpPr>
        <p:spPr>
          <a:xfrm>
            <a:off x="9407236" y="6200775"/>
            <a:ext cx="2789959" cy="657225"/>
          </a:xfrm>
          <a:custGeom>
            <a:avLst/>
            <a:gdLst>
              <a:gd name="connsiteX0" fmla="*/ 2770909 w 2784764"/>
              <a:gd name="connsiteY0" fmla="*/ 0 h 1537855"/>
              <a:gd name="connsiteX1" fmla="*/ 0 w 2784764"/>
              <a:gd name="connsiteY1" fmla="*/ 1537855 h 1537855"/>
              <a:gd name="connsiteX2" fmla="*/ 2784764 w 2784764"/>
              <a:gd name="connsiteY2" fmla="*/ 1537855 h 1537855"/>
              <a:gd name="connsiteX3" fmla="*/ 2770909 w 2784764"/>
              <a:gd name="connsiteY3" fmla="*/ 0 h 1537855"/>
              <a:gd name="connsiteX0-1" fmla="*/ 2789959 w 2789959"/>
              <a:gd name="connsiteY0-2" fmla="*/ 0 h 1537855"/>
              <a:gd name="connsiteX1-3" fmla="*/ 0 w 2789959"/>
              <a:gd name="connsiteY1-4" fmla="*/ 1537855 h 1537855"/>
              <a:gd name="connsiteX2-5" fmla="*/ 2784764 w 2789959"/>
              <a:gd name="connsiteY2-6" fmla="*/ 1537855 h 1537855"/>
              <a:gd name="connsiteX3-7" fmla="*/ 2789959 w 2789959"/>
              <a:gd name="connsiteY3-8" fmla="*/ 0 h 15378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789959" h="1537855">
                <a:moveTo>
                  <a:pt x="2789959" y="0"/>
                </a:moveTo>
                <a:lnTo>
                  <a:pt x="0" y="1537855"/>
                </a:lnTo>
                <a:lnTo>
                  <a:pt x="2784764" y="1537855"/>
                </a:lnTo>
                <a:cubicBezTo>
                  <a:pt x="2786496" y="1025237"/>
                  <a:pt x="2788227" y="512618"/>
                  <a:pt x="278995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6"/>
          <p:cNvSpPr/>
          <p:nvPr>
            <p:custDataLst>
              <p:tags r:id="rId2"/>
            </p:custDataLst>
          </p:nvPr>
        </p:nvSpPr>
        <p:spPr>
          <a:xfrm>
            <a:off x="0" y="5056908"/>
            <a:ext cx="11887200" cy="1801091"/>
          </a:xfrm>
          <a:custGeom>
            <a:avLst/>
            <a:gdLst>
              <a:gd name="connsiteX0" fmla="*/ 0 w 10833100"/>
              <a:gd name="connsiteY0" fmla="*/ 0 h 2628900"/>
              <a:gd name="connsiteX1" fmla="*/ 10833100 w 10833100"/>
              <a:gd name="connsiteY1" fmla="*/ 2628900 h 2628900"/>
              <a:gd name="connsiteX2" fmla="*/ 0 w 10833100"/>
              <a:gd name="connsiteY2" fmla="*/ 2628900 h 2628900"/>
              <a:gd name="connsiteX3" fmla="*/ 0 w 10833100"/>
              <a:gd name="connsiteY3" fmla="*/ 0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3100" h="2628900">
                <a:moveTo>
                  <a:pt x="0" y="0"/>
                </a:moveTo>
                <a:lnTo>
                  <a:pt x="108331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1"/>
          <p:cNvSpPr/>
          <p:nvPr>
            <p:custDataLst>
              <p:tags r:id="rId3"/>
            </p:custDataLst>
          </p:nvPr>
        </p:nvSpPr>
        <p:spPr>
          <a:xfrm rot="21276009">
            <a:off x="-105299" y="-566907"/>
            <a:ext cx="12283612" cy="1658609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432800" y="1972800"/>
            <a:ext cx="9327600" cy="1508400"/>
          </a:xfrm>
        </p:spPr>
        <p:txBody>
          <a:bodyPr anchor="b" anchorCtr="0">
            <a:normAutofit/>
          </a:bodyPr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432800" y="3574800"/>
            <a:ext cx="9327600" cy="165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11"/>
          <p:cNvSpPr/>
          <p:nvPr userDrawn="1">
            <p:custDataLst>
              <p:tags r:id="rId1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手动输入 5"/>
          <p:cNvSpPr/>
          <p:nvPr userDrawn="1">
            <p:custDataLst>
              <p:tags r:id="rId1"/>
            </p:custDataLst>
          </p:nvPr>
        </p:nvSpPr>
        <p:spPr>
          <a:xfrm rot="16200000" flipV="1">
            <a:off x="-2719705" y="2713355"/>
            <a:ext cx="6881495" cy="1440815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手动输入 8"/>
          <p:cNvSpPr/>
          <p:nvPr userDrawn="1">
            <p:custDataLst>
              <p:tags r:id="rId2"/>
            </p:custDataLst>
          </p:nvPr>
        </p:nvSpPr>
        <p:spPr>
          <a:xfrm rot="16200000" flipH="1">
            <a:off x="7446010" y="2135505"/>
            <a:ext cx="6881495" cy="2611120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 userDrawn="1">
            <p:custDataLst>
              <p:tags r:id="rId1"/>
            </p:custDataLst>
          </p:nvPr>
        </p:nvSpPr>
        <p:spPr>
          <a:xfrm rot="16200000" flipH="1">
            <a:off x="11475720" y="6155690"/>
            <a:ext cx="424815" cy="1008380"/>
          </a:xfrm>
          <a:custGeom>
            <a:avLst/>
            <a:gdLst>
              <a:gd name="connsiteX0" fmla="*/ 0 w 669"/>
              <a:gd name="connsiteY0" fmla="*/ 393 h 1588"/>
              <a:gd name="connsiteX1" fmla="*/ 669 w 669"/>
              <a:gd name="connsiteY1" fmla="*/ 0 h 1588"/>
              <a:gd name="connsiteX2" fmla="*/ 647 w 669"/>
              <a:gd name="connsiteY2" fmla="*/ 1588 h 1588"/>
              <a:gd name="connsiteX3" fmla="*/ 0 w 669"/>
              <a:gd name="connsiteY3" fmla="*/ 1587 h 1588"/>
              <a:gd name="connsiteX4" fmla="*/ 0 w 669"/>
              <a:gd name="connsiteY4" fmla="*/ 393 h 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" h="1588">
                <a:moveTo>
                  <a:pt x="0" y="393"/>
                </a:moveTo>
                <a:lnTo>
                  <a:pt x="669" y="0"/>
                </a:lnTo>
                <a:lnTo>
                  <a:pt x="647" y="1588"/>
                </a:lnTo>
                <a:lnTo>
                  <a:pt x="0" y="1587"/>
                </a:lnTo>
                <a:lnTo>
                  <a:pt x="0" y="39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 flipH="1">
            <a:off x="0" y="6296660"/>
            <a:ext cx="12197715" cy="561340"/>
            <a:chOff x="0" y="9916"/>
            <a:chExt cx="19209" cy="884"/>
          </a:xfrm>
        </p:grpSpPr>
        <p:sp>
          <p:nvSpPr>
            <p:cNvPr id="8" name="任意多边形 7"/>
            <p:cNvSpPr/>
            <p:nvPr userDrawn="1">
              <p:custDataLst>
                <p:tags r:id="rId9"/>
              </p:custDataLst>
            </p:nvPr>
          </p:nvSpPr>
          <p:spPr>
            <a:xfrm>
              <a:off x="14815" y="10331"/>
              <a:ext cx="4394" cy="469"/>
            </a:xfrm>
            <a:custGeom>
              <a:avLst/>
              <a:gdLst>
                <a:gd name="connsiteX0" fmla="*/ 2770909 w 2784764"/>
                <a:gd name="connsiteY0" fmla="*/ 0 h 1537855"/>
                <a:gd name="connsiteX1" fmla="*/ 0 w 2784764"/>
                <a:gd name="connsiteY1" fmla="*/ 1537855 h 1537855"/>
                <a:gd name="connsiteX2" fmla="*/ 2784764 w 2784764"/>
                <a:gd name="connsiteY2" fmla="*/ 1537855 h 1537855"/>
                <a:gd name="connsiteX3" fmla="*/ 2770909 w 2784764"/>
                <a:gd name="connsiteY3" fmla="*/ 0 h 1537855"/>
                <a:gd name="connsiteX0-1" fmla="*/ 2789959 w 2789959"/>
                <a:gd name="connsiteY0-2" fmla="*/ 0 h 1537855"/>
                <a:gd name="connsiteX1-3" fmla="*/ 0 w 2789959"/>
                <a:gd name="connsiteY1-4" fmla="*/ 1537855 h 1537855"/>
                <a:gd name="connsiteX2-5" fmla="*/ 2784764 w 2789959"/>
                <a:gd name="connsiteY2-6" fmla="*/ 1537855 h 1537855"/>
                <a:gd name="connsiteX3-7" fmla="*/ 2789959 w 2789959"/>
                <a:gd name="connsiteY3-8" fmla="*/ 0 h 15378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789959" h="1537855">
                  <a:moveTo>
                    <a:pt x="2789959" y="0"/>
                  </a:moveTo>
                  <a:lnTo>
                    <a:pt x="0" y="1537855"/>
                  </a:lnTo>
                  <a:lnTo>
                    <a:pt x="2784764" y="1537855"/>
                  </a:lnTo>
                  <a:cubicBezTo>
                    <a:pt x="2786496" y="1025237"/>
                    <a:pt x="2788227" y="512618"/>
                    <a:pt x="27899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6"/>
            <p:cNvSpPr/>
            <p:nvPr userDrawn="1">
              <p:custDataLst>
                <p:tags r:id="rId10"/>
              </p:custDataLst>
            </p:nvPr>
          </p:nvSpPr>
          <p:spPr>
            <a:xfrm>
              <a:off x="0" y="9916"/>
              <a:ext cx="18720" cy="884"/>
            </a:xfrm>
            <a:custGeom>
              <a:avLst/>
              <a:gdLst>
                <a:gd name="connsiteX0" fmla="*/ 0 w 10833100"/>
                <a:gd name="connsiteY0" fmla="*/ 0 h 2628900"/>
                <a:gd name="connsiteX1" fmla="*/ 10833100 w 10833100"/>
                <a:gd name="connsiteY1" fmla="*/ 2628900 h 2628900"/>
                <a:gd name="connsiteX2" fmla="*/ 0 w 10833100"/>
                <a:gd name="connsiteY2" fmla="*/ 2628900 h 2628900"/>
                <a:gd name="connsiteX3" fmla="*/ 0 w 10833100"/>
                <a:gd name="connsiteY3" fmla="*/ 0 h 262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3100" h="2628900">
                  <a:moveTo>
                    <a:pt x="0" y="0"/>
                  </a:moveTo>
                  <a:lnTo>
                    <a:pt x="108331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 rot="16200000" flipH="1">
            <a:off x="11767185" y="6429375"/>
            <a:ext cx="425450" cy="446405"/>
          </a:xfrm>
          <a:custGeom>
            <a:avLst/>
            <a:gdLst>
              <a:gd name="connsiteX0" fmla="*/ 5 w 670"/>
              <a:gd name="connsiteY0" fmla="*/ 177 h 690"/>
              <a:gd name="connsiteX1" fmla="*/ 659 w 670"/>
              <a:gd name="connsiteY1" fmla="*/ 0 h 690"/>
              <a:gd name="connsiteX2" fmla="*/ 670 w 670"/>
              <a:gd name="connsiteY2" fmla="*/ 690 h 690"/>
              <a:gd name="connsiteX3" fmla="*/ 0 w 670"/>
              <a:gd name="connsiteY3" fmla="*/ 689 h 690"/>
              <a:gd name="connsiteX4" fmla="*/ 5 w 670"/>
              <a:gd name="connsiteY4" fmla="*/ 177 h 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" h="690">
                <a:moveTo>
                  <a:pt x="5" y="177"/>
                </a:moveTo>
                <a:lnTo>
                  <a:pt x="659" y="0"/>
                </a:lnTo>
                <a:lnTo>
                  <a:pt x="670" y="690"/>
                </a:lnTo>
                <a:lnTo>
                  <a:pt x="0" y="689"/>
                </a:lnTo>
                <a:lnTo>
                  <a:pt x="5" y="17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90867" y="1601825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0" y="6296660"/>
            <a:ext cx="12197715" cy="561340"/>
            <a:chOff x="0" y="9916"/>
            <a:chExt cx="19209" cy="884"/>
          </a:xfrm>
        </p:grpSpPr>
        <p:sp>
          <p:nvSpPr>
            <p:cNvPr id="8" name="任意多边形 7"/>
            <p:cNvSpPr/>
            <p:nvPr userDrawn="1">
              <p:custDataLst>
                <p:tags r:id="rId11"/>
              </p:custDataLst>
            </p:nvPr>
          </p:nvSpPr>
          <p:spPr>
            <a:xfrm>
              <a:off x="14815" y="10331"/>
              <a:ext cx="4394" cy="469"/>
            </a:xfrm>
            <a:custGeom>
              <a:avLst/>
              <a:gdLst>
                <a:gd name="connsiteX0" fmla="*/ 2770909 w 2784764"/>
                <a:gd name="connsiteY0" fmla="*/ 0 h 1537855"/>
                <a:gd name="connsiteX1" fmla="*/ 0 w 2784764"/>
                <a:gd name="connsiteY1" fmla="*/ 1537855 h 1537855"/>
                <a:gd name="connsiteX2" fmla="*/ 2784764 w 2784764"/>
                <a:gd name="connsiteY2" fmla="*/ 1537855 h 1537855"/>
                <a:gd name="connsiteX3" fmla="*/ 2770909 w 2784764"/>
                <a:gd name="connsiteY3" fmla="*/ 0 h 1537855"/>
                <a:gd name="connsiteX0-1" fmla="*/ 2789959 w 2789959"/>
                <a:gd name="connsiteY0-2" fmla="*/ 0 h 1537855"/>
                <a:gd name="connsiteX1-3" fmla="*/ 0 w 2789959"/>
                <a:gd name="connsiteY1-4" fmla="*/ 1537855 h 1537855"/>
                <a:gd name="connsiteX2-5" fmla="*/ 2784764 w 2789959"/>
                <a:gd name="connsiteY2-6" fmla="*/ 1537855 h 1537855"/>
                <a:gd name="connsiteX3-7" fmla="*/ 2789959 w 2789959"/>
                <a:gd name="connsiteY3-8" fmla="*/ 0 h 15378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789959" h="1537855">
                  <a:moveTo>
                    <a:pt x="2789959" y="0"/>
                  </a:moveTo>
                  <a:lnTo>
                    <a:pt x="0" y="1537855"/>
                  </a:lnTo>
                  <a:lnTo>
                    <a:pt x="2784764" y="1537855"/>
                  </a:lnTo>
                  <a:cubicBezTo>
                    <a:pt x="2786496" y="1025237"/>
                    <a:pt x="2788227" y="512618"/>
                    <a:pt x="27899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"/>
            <p:cNvSpPr/>
            <p:nvPr userDrawn="1">
              <p:custDataLst>
                <p:tags r:id="rId12"/>
              </p:custDataLst>
            </p:nvPr>
          </p:nvSpPr>
          <p:spPr>
            <a:xfrm>
              <a:off x="0" y="9916"/>
              <a:ext cx="18720" cy="884"/>
            </a:xfrm>
            <a:custGeom>
              <a:avLst/>
              <a:gdLst>
                <a:gd name="connsiteX0" fmla="*/ 0 w 10833100"/>
                <a:gd name="connsiteY0" fmla="*/ 0 h 2628900"/>
                <a:gd name="connsiteX1" fmla="*/ 10833100 w 10833100"/>
                <a:gd name="connsiteY1" fmla="*/ 2628900 h 2628900"/>
                <a:gd name="connsiteX2" fmla="*/ 0 w 10833100"/>
                <a:gd name="connsiteY2" fmla="*/ 2628900 h 2628900"/>
                <a:gd name="connsiteX3" fmla="*/ 0 w 10833100"/>
                <a:gd name="connsiteY3" fmla="*/ 0 h 262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3100" h="2628900">
                  <a:moveTo>
                    <a:pt x="0" y="0"/>
                  </a:moveTo>
                  <a:lnTo>
                    <a:pt x="108331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8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Relationship Id="rId27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82236-D4A1-4C3D-853B-62FC5CCE66EF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B83DC-E8CB-4550-BF91-0718CDC13C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838200" y="365125"/>
            <a:ext cx="10515600" cy="850489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838200" y="1308100"/>
            <a:ext cx="10515600" cy="486886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AC93152-F2CC-4405-8AED-373AF10C4C36}" type="datetimeFigureOut">
              <a:rPr lang="zh-CN" altLang="en-US" smtClean="0"/>
              <a:t>2024/6/3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D225193-3EA5-4D22-8989-DC5DF650EEC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手动输入 6"/>
          <p:cNvSpPr/>
          <p:nvPr>
            <p:custDataLst>
              <p:tags r:id="rId25"/>
            </p:custDataLst>
          </p:nvPr>
        </p:nvSpPr>
        <p:spPr>
          <a:xfrm rot="16200000" flipV="1">
            <a:off x="-12681" y="-8453"/>
            <a:ext cx="444500" cy="457200"/>
          </a:xfrm>
          <a:prstGeom prst="flowChartManualInpu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26"/>
            </p:custDataLst>
          </p:nvPr>
        </p:nvSpPr>
        <p:spPr>
          <a:xfrm>
            <a:off x="-44789" y="3548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60D4C947-7C49-4D5F-B96C-B396F3737F2A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172720" algn="l" defTabSz="9144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72720" algn="l" defTabSz="9144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72720" algn="l" defTabSz="9144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72720" algn="l" defTabSz="9144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72720" algn="l" defTabSz="9144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41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170.xml"/><Relationship Id="rId21" Type="http://schemas.openxmlformats.org/officeDocument/2006/relationships/tags" Target="../tags/tag165.xml"/><Relationship Id="rId34" Type="http://schemas.openxmlformats.org/officeDocument/2006/relationships/tags" Target="../tags/tag178.xml"/><Relationship Id="rId42" Type="http://schemas.openxmlformats.org/officeDocument/2006/relationships/tags" Target="../tags/tag186.xml"/><Relationship Id="rId47" Type="http://schemas.openxmlformats.org/officeDocument/2006/relationships/tags" Target="../tags/tag191.xml"/><Relationship Id="rId50" Type="http://schemas.openxmlformats.org/officeDocument/2006/relationships/tags" Target="../tags/tag194.xml"/><Relationship Id="rId55" Type="http://schemas.openxmlformats.org/officeDocument/2006/relationships/tags" Target="../tags/tag199.xml"/><Relationship Id="rId63" Type="http://schemas.openxmlformats.org/officeDocument/2006/relationships/image" Target="../media/image3.tiff"/><Relationship Id="rId7" Type="http://schemas.openxmlformats.org/officeDocument/2006/relationships/tags" Target="../tags/tag151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9" Type="http://schemas.openxmlformats.org/officeDocument/2006/relationships/tags" Target="../tags/tag173.xml"/><Relationship Id="rId11" Type="http://schemas.openxmlformats.org/officeDocument/2006/relationships/tags" Target="../tags/tag155.xml"/><Relationship Id="rId24" Type="http://schemas.openxmlformats.org/officeDocument/2006/relationships/tags" Target="../tags/tag168.xml"/><Relationship Id="rId32" Type="http://schemas.openxmlformats.org/officeDocument/2006/relationships/tags" Target="../tags/tag176.xml"/><Relationship Id="rId37" Type="http://schemas.openxmlformats.org/officeDocument/2006/relationships/tags" Target="../tags/tag181.xml"/><Relationship Id="rId40" Type="http://schemas.openxmlformats.org/officeDocument/2006/relationships/tags" Target="../tags/tag184.xml"/><Relationship Id="rId45" Type="http://schemas.openxmlformats.org/officeDocument/2006/relationships/tags" Target="../tags/tag189.xml"/><Relationship Id="rId53" Type="http://schemas.openxmlformats.org/officeDocument/2006/relationships/tags" Target="../tags/tag197.xml"/><Relationship Id="rId58" Type="http://schemas.openxmlformats.org/officeDocument/2006/relationships/tags" Target="../tags/tag202.xml"/><Relationship Id="rId5" Type="http://schemas.openxmlformats.org/officeDocument/2006/relationships/tags" Target="../tags/tag149.xml"/><Relationship Id="rId61" Type="http://schemas.openxmlformats.org/officeDocument/2006/relationships/slideLayout" Target="../slideLayouts/slideLayout18.xml"/><Relationship Id="rId19" Type="http://schemas.openxmlformats.org/officeDocument/2006/relationships/tags" Target="../tags/tag163.xml"/><Relationship Id="rId14" Type="http://schemas.openxmlformats.org/officeDocument/2006/relationships/tags" Target="../tags/tag158.xml"/><Relationship Id="rId22" Type="http://schemas.openxmlformats.org/officeDocument/2006/relationships/tags" Target="../tags/tag166.xml"/><Relationship Id="rId27" Type="http://schemas.openxmlformats.org/officeDocument/2006/relationships/tags" Target="../tags/tag171.xml"/><Relationship Id="rId30" Type="http://schemas.openxmlformats.org/officeDocument/2006/relationships/tags" Target="../tags/tag174.xml"/><Relationship Id="rId35" Type="http://schemas.openxmlformats.org/officeDocument/2006/relationships/tags" Target="../tags/tag179.xml"/><Relationship Id="rId43" Type="http://schemas.openxmlformats.org/officeDocument/2006/relationships/tags" Target="../tags/tag187.xml"/><Relationship Id="rId48" Type="http://schemas.openxmlformats.org/officeDocument/2006/relationships/tags" Target="../tags/tag192.xml"/><Relationship Id="rId56" Type="http://schemas.openxmlformats.org/officeDocument/2006/relationships/tags" Target="../tags/tag200.xml"/><Relationship Id="rId64" Type="http://schemas.openxmlformats.org/officeDocument/2006/relationships/image" Target="../media/image4.tiff"/><Relationship Id="rId8" Type="http://schemas.openxmlformats.org/officeDocument/2006/relationships/tags" Target="../tags/tag152.xml"/><Relationship Id="rId51" Type="http://schemas.openxmlformats.org/officeDocument/2006/relationships/tags" Target="../tags/tag195.xml"/><Relationship Id="rId3" Type="http://schemas.openxmlformats.org/officeDocument/2006/relationships/tags" Target="../tags/tag147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5" Type="http://schemas.openxmlformats.org/officeDocument/2006/relationships/tags" Target="../tags/tag169.xml"/><Relationship Id="rId33" Type="http://schemas.openxmlformats.org/officeDocument/2006/relationships/tags" Target="../tags/tag177.xml"/><Relationship Id="rId38" Type="http://schemas.openxmlformats.org/officeDocument/2006/relationships/tags" Target="../tags/tag182.xml"/><Relationship Id="rId46" Type="http://schemas.openxmlformats.org/officeDocument/2006/relationships/tags" Target="../tags/tag190.xml"/><Relationship Id="rId59" Type="http://schemas.openxmlformats.org/officeDocument/2006/relationships/tags" Target="../tags/tag203.xml"/><Relationship Id="rId20" Type="http://schemas.openxmlformats.org/officeDocument/2006/relationships/tags" Target="../tags/tag164.xml"/><Relationship Id="rId41" Type="http://schemas.openxmlformats.org/officeDocument/2006/relationships/tags" Target="../tags/tag185.xml"/><Relationship Id="rId54" Type="http://schemas.openxmlformats.org/officeDocument/2006/relationships/tags" Target="../tags/tag198.xml"/><Relationship Id="rId62" Type="http://schemas.openxmlformats.org/officeDocument/2006/relationships/image" Target="../media/image2.tiff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5" Type="http://schemas.openxmlformats.org/officeDocument/2006/relationships/tags" Target="../tags/tag159.xml"/><Relationship Id="rId23" Type="http://schemas.openxmlformats.org/officeDocument/2006/relationships/tags" Target="../tags/tag167.xml"/><Relationship Id="rId28" Type="http://schemas.openxmlformats.org/officeDocument/2006/relationships/tags" Target="../tags/tag172.xml"/><Relationship Id="rId36" Type="http://schemas.openxmlformats.org/officeDocument/2006/relationships/tags" Target="../tags/tag180.xml"/><Relationship Id="rId49" Type="http://schemas.openxmlformats.org/officeDocument/2006/relationships/tags" Target="../tags/tag193.xml"/><Relationship Id="rId57" Type="http://schemas.openxmlformats.org/officeDocument/2006/relationships/tags" Target="../tags/tag201.xml"/><Relationship Id="rId10" Type="http://schemas.openxmlformats.org/officeDocument/2006/relationships/tags" Target="../tags/tag154.xml"/><Relationship Id="rId31" Type="http://schemas.openxmlformats.org/officeDocument/2006/relationships/tags" Target="../tags/tag175.xml"/><Relationship Id="rId44" Type="http://schemas.openxmlformats.org/officeDocument/2006/relationships/tags" Target="../tags/tag188.xml"/><Relationship Id="rId52" Type="http://schemas.openxmlformats.org/officeDocument/2006/relationships/tags" Target="../tags/tag196.xml"/><Relationship Id="rId60" Type="http://schemas.openxmlformats.org/officeDocument/2006/relationships/tags" Target="../tags/tag204.xml"/><Relationship Id="rId65" Type="http://schemas.openxmlformats.org/officeDocument/2006/relationships/image" Target="../media/image5.png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39" Type="http://schemas.openxmlformats.org/officeDocument/2006/relationships/tags" Target="../tags/tag1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tags" Target="../tags/tag217.xml"/><Relationship Id="rId18" Type="http://schemas.openxmlformats.org/officeDocument/2006/relationships/tags" Target="../tags/tag222.xml"/><Relationship Id="rId26" Type="http://schemas.openxmlformats.org/officeDocument/2006/relationships/slideLayout" Target="../slideLayouts/slideLayout18.xml"/><Relationship Id="rId3" Type="http://schemas.openxmlformats.org/officeDocument/2006/relationships/tags" Target="../tags/tag207.xml"/><Relationship Id="rId21" Type="http://schemas.openxmlformats.org/officeDocument/2006/relationships/tags" Target="../tags/tag225.xml"/><Relationship Id="rId7" Type="http://schemas.openxmlformats.org/officeDocument/2006/relationships/tags" Target="../tags/tag211.xml"/><Relationship Id="rId12" Type="http://schemas.openxmlformats.org/officeDocument/2006/relationships/tags" Target="../tags/tag216.xml"/><Relationship Id="rId17" Type="http://schemas.openxmlformats.org/officeDocument/2006/relationships/tags" Target="../tags/tag221.xml"/><Relationship Id="rId25" Type="http://schemas.openxmlformats.org/officeDocument/2006/relationships/tags" Target="../tags/tag229.xml"/><Relationship Id="rId2" Type="http://schemas.openxmlformats.org/officeDocument/2006/relationships/tags" Target="../tags/tag206.xml"/><Relationship Id="rId16" Type="http://schemas.openxmlformats.org/officeDocument/2006/relationships/tags" Target="../tags/tag220.xml"/><Relationship Id="rId20" Type="http://schemas.openxmlformats.org/officeDocument/2006/relationships/tags" Target="../tags/tag224.xml"/><Relationship Id="rId29" Type="http://schemas.openxmlformats.org/officeDocument/2006/relationships/image" Target="../media/image6.tiff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24" Type="http://schemas.openxmlformats.org/officeDocument/2006/relationships/tags" Target="../tags/tag228.xml"/><Relationship Id="rId5" Type="http://schemas.openxmlformats.org/officeDocument/2006/relationships/tags" Target="../tags/tag209.xml"/><Relationship Id="rId15" Type="http://schemas.openxmlformats.org/officeDocument/2006/relationships/tags" Target="../tags/tag219.xml"/><Relationship Id="rId23" Type="http://schemas.openxmlformats.org/officeDocument/2006/relationships/tags" Target="../tags/tag227.xml"/><Relationship Id="rId28" Type="http://schemas.openxmlformats.org/officeDocument/2006/relationships/image" Target="../media/image4.tiff"/><Relationship Id="rId10" Type="http://schemas.openxmlformats.org/officeDocument/2006/relationships/tags" Target="../tags/tag214.xml"/><Relationship Id="rId19" Type="http://schemas.openxmlformats.org/officeDocument/2006/relationships/tags" Target="../tags/tag223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Relationship Id="rId22" Type="http://schemas.openxmlformats.org/officeDocument/2006/relationships/tags" Target="../tags/tag226.xml"/><Relationship Id="rId27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13" Type="http://schemas.openxmlformats.org/officeDocument/2006/relationships/tags" Target="../tags/tag242.xml"/><Relationship Id="rId18" Type="http://schemas.openxmlformats.org/officeDocument/2006/relationships/tags" Target="../tags/tag247.xml"/><Relationship Id="rId3" Type="http://schemas.openxmlformats.org/officeDocument/2006/relationships/tags" Target="../tags/tag232.xml"/><Relationship Id="rId21" Type="http://schemas.openxmlformats.org/officeDocument/2006/relationships/image" Target="../media/image4.tiff"/><Relationship Id="rId7" Type="http://schemas.openxmlformats.org/officeDocument/2006/relationships/tags" Target="../tags/tag236.xml"/><Relationship Id="rId12" Type="http://schemas.openxmlformats.org/officeDocument/2006/relationships/tags" Target="../tags/tag241.xml"/><Relationship Id="rId17" Type="http://schemas.openxmlformats.org/officeDocument/2006/relationships/tags" Target="../tags/tag246.xml"/><Relationship Id="rId2" Type="http://schemas.openxmlformats.org/officeDocument/2006/relationships/tags" Target="../tags/tag231.xml"/><Relationship Id="rId16" Type="http://schemas.openxmlformats.org/officeDocument/2006/relationships/tags" Target="../tags/tag245.xml"/><Relationship Id="rId20" Type="http://schemas.openxmlformats.org/officeDocument/2006/relationships/image" Target="../media/image3.tiff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tags" Target="../tags/tag240.xml"/><Relationship Id="rId5" Type="http://schemas.openxmlformats.org/officeDocument/2006/relationships/tags" Target="../tags/tag234.xml"/><Relationship Id="rId15" Type="http://schemas.openxmlformats.org/officeDocument/2006/relationships/tags" Target="../tags/tag244.xml"/><Relationship Id="rId10" Type="http://schemas.openxmlformats.org/officeDocument/2006/relationships/tags" Target="../tags/tag239.xml"/><Relationship Id="rId19" Type="http://schemas.openxmlformats.org/officeDocument/2006/relationships/slideLayout" Target="../slideLayouts/slideLayout18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Relationship Id="rId2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250.xml"/><Relationship Id="rId7" Type="http://schemas.openxmlformats.org/officeDocument/2006/relationships/tags" Target="../tags/tag254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62.xml"/><Relationship Id="rId13" Type="http://schemas.openxmlformats.org/officeDocument/2006/relationships/tags" Target="../tags/tag267.xml"/><Relationship Id="rId18" Type="http://schemas.openxmlformats.org/officeDocument/2006/relationships/image" Target="../media/image9.png"/><Relationship Id="rId3" Type="http://schemas.openxmlformats.org/officeDocument/2006/relationships/tags" Target="../tags/tag257.xml"/><Relationship Id="rId7" Type="http://schemas.openxmlformats.org/officeDocument/2006/relationships/tags" Target="../tags/tag261.xml"/><Relationship Id="rId12" Type="http://schemas.openxmlformats.org/officeDocument/2006/relationships/tags" Target="../tags/tag266.xml"/><Relationship Id="rId17" Type="http://schemas.openxmlformats.org/officeDocument/2006/relationships/slideLayout" Target="../slideLayouts/slideLayout18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1" Type="http://schemas.openxmlformats.org/officeDocument/2006/relationships/tags" Target="../tags/tag265.xml"/><Relationship Id="rId5" Type="http://schemas.openxmlformats.org/officeDocument/2006/relationships/tags" Target="../tags/tag259.xml"/><Relationship Id="rId15" Type="http://schemas.openxmlformats.org/officeDocument/2006/relationships/tags" Target="../tags/tag269.xml"/><Relationship Id="rId10" Type="http://schemas.openxmlformats.org/officeDocument/2006/relationships/tags" Target="../tags/tag264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tags" Target="../tags/tag26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search/cs?searchtype=author&amp;query=Domeniconi,+G" TargetMode="External"/><Relationship Id="rId3" Type="http://schemas.openxmlformats.org/officeDocument/2006/relationships/tags" Target="../tags/tag273.xml"/><Relationship Id="rId7" Type="http://schemas.openxmlformats.org/officeDocument/2006/relationships/hyperlink" Target="https://arxiv.org/search/cs?searchtype=author&amp;query=Pareja,+A" TargetMode="Externa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7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10" Type="http://schemas.openxmlformats.org/officeDocument/2006/relationships/image" Target="../media/image14.png"/><Relationship Id="rId4" Type="http://schemas.openxmlformats.org/officeDocument/2006/relationships/tags" Target="../tags/tag280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500" dirty="0">
                <a:solidFill>
                  <a:schemeClr val="accent1">
                    <a:lumMod val="75000"/>
                  </a:schemeClr>
                </a:solidFill>
              </a:rPr>
              <a:t>Community conflict </a:t>
            </a:r>
            <a:br>
              <a:rPr lang="en-US" altLang="zh-CN" sz="65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6500" dirty="0">
                <a:solidFill>
                  <a:schemeClr val="accent1">
                    <a:lumMod val="75000"/>
                  </a:schemeClr>
                </a:solidFill>
              </a:rPr>
              <a:t>analysis and prediction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pPr marL="0" lvl="0" indent="0" algn="ctr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dk1"/>
                </a:solidFill>
              </a:rPr>
              <a:t>5</a:t>
            </a:r>
            <a:r>
              <a:rPr lang="en-US" altLang="zh-CN" sz="2800" dirty="0">
                <a:solidFill>
                  <a:schemeClr val="dk1"/>
                </a:solidFill>
              </a:rPr>
              <a:t>组：余筱涵 侯昱晨 潘思余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ounded Rectangle 14"/>
          <p:cNvSpPr/>
          <p:nvPr>
            <p:custDataLst>
              <p:tags r:id="rId3"/>
            </p:custDataLst>
          </p:nvPr>
        </p:nvSpPr>
        <p:spPr>
          <a:xfrm>
            <a:off x="481086" y="1106012"/>
            <a:ext cx="11022437" cy="8453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Understanding how communities fight and how to prevent conflicts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8897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Abstract</a:t>
            </a: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9130" y="2240280"/>
            <a:ext cx="5031740" cy="4351655"/>
          </a:xfrm>
          <a:prstGeom prst="rect">
            <a:avLst/>
          </a:prstGeom>
        </p:spPr>
        <p:txBody>
          <a:bodyPr vert="horz" wrap="square" lIns="90170" tIns="46990" rIns="90170" bIns="4699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Motivation: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Inter-community interaction and conflict analysis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community conflict prediction model </a:t>
            </a:r>
          </a:p>
          <a:p>
            <a:pPr lvl="1"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2"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Evaluation: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AUC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F1 score</a:t>
            </a: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00470" y="2367280"/>
            <a:ext cx="5031740" cy="4351655"/>
          </a:xfrm>
          <a:prstGeom prst="rect">
            <a:avLst/>
          </a:prstGeom>
        </p:spPr>
        <p:txBody>
          <a:bodyPr vert="horz" wrap="square" lIns="90170" tIns="46990" rIns="90170" bIns="4699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Method: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PageRank and its variations(</a:t>
            </a:r>
            <a:r>
              <a:rPr lang="en-US" altLang="zh-CN" dirty="0" err="1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APageRank</a:t>
            </a: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 &amp; </a:t>
            </a:r>
            <a:r>
              <a:rPr lang="en-US" altLang="zh-CN" dirty="0" err="1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DpageRank</a:t>
            </a: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Link prediction model: 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LSTM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GCN</a:t>
            </a:r>
          </a:p>
          <a:p>
            <a:pPr lvl="2">
              <a:lnSpc>
                <a:spcPct val="100000"/>
              </a:lnSpc>
            </a:pPr>
            <a:r>
              <a:rPr lang="en-US" altLang="zh-CN" dirty="0" err="1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EnvolveGCN</a:t>
            </a:r>
            <a:r>
              <a:rPr lang="en-US" altLang="zh-CN" dirty="0">
                <a:solidFill>
                  <a:schemeClr val="dk1"/>
                </a:solidFill>
                <a:latin typeface="华文中宋" panose="02010600040101010101" charset="-122"/>
                <a:ea typeface="华文中宋" panose="02010600040101010101" charset="-122"/>
              </a:rPr>
              <a:t> (dynamic link prediction)</a:t>
            </a:r>
          </a:p>
          <a:p>
            <a:pPr lvl="2"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dk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" name="redditmap_new.pdf" descr="redditmap_new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0808" y="624705"/>
            <a:ext cx="6064725" cy="58221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V="1">
            <a:off x="5324504" y="-2364857"/>
            <a:ext cx="790276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86033" y="6471829"/>
            <a:ext cx="84071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[1]https://snap.stanford.edu/conflict</a:t>
            </a:r>
          </a:p>
          <a:p>
            <a:endParaRPr lang="en-US" altLang="zh-CN" dirty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Dataset</a:t>
            </a: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38200" y="1825625"/>
            <a:ext cx="5449478" cy="4351338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25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SNAP Reddit Hyperlink Net work</a:t>
            </a:r>
          </a:p>
          <a:p>
            <a:endParaRPr lang="nl-NL" altLang="zh-CN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  <a:p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Nodes: </a:t>
            </a:r>
          </a:p>
          <a:p>
            <a:pPr lvl="1"/>
            <a:r>
              <a:rPr lang="nl-NL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110000 +</a:t>
            </a:r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 users</a:t>
            </a:r>
          </a:p>
          <a:p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Node feature: </a:t>
            </a:r>
          </a:p>
          <a:p>
            <a:pPr lvl="1"/>
            <a:r>
              <a:rPr lang="nl-NL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50000+ </a:t>
            </a:r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subreddit(community)</a:t>
            </a:r>
          </a:p>
          <a:p>
            <a:endParaRPr lang="nl-NL" altLang="zh-CN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  <a:p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Edge:  </a:t>
            </a:r>
          </a:p>
          <a:p>
            <a:pPr lvl="1"/>
            <a:r>
              <a:rPr lang="nl-NL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4 month 280000+ </a:t>
            </a:r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post </a:t>
            </a:r>
          </a:p>
          <a:p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Edge feature: </a:t>
            </a:r>
          </a:p>
          <a:p>
            <a:pPr lvl="1"/>
            <a:r>
              <a:rPr lang="nl-NL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300 length </a:t>
            </a:r>
            <a:r>
              <a:rPr lang="nl-NL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post context embedding</a:t>
            </a:r>
          </a:p>
          <a:p>
            <a:endParaRPr lang="nl-NL" altLang="zh-CN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2486" y="6336023"/>
            <a:ext cx="105155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[2]Community Interaction on Conflict on the Web. S. Kumar, W.L. Hamilton, D. </a:t>
            </a:r>
            <a:r>
              <a:rPr lang="en-US" altLang="zh-CN" sz="1400" dirty="0" err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Jurafsky</a:t>
            </a:r>
            <a:r>
              <a:rPr lang="en-US" altLang="zh-CN" sz="1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, and J. </a:t>
            </a:r>
            <a:r>
              <a:rPr lang="en-US" altLang="zh-CN" sz="1400" dirty="0" err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Leskovec</a:t>
            </a:r>
            <a:r>
              <a:rPr lang="en-US" altLang="zh-CN" sz="1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. </a:t>
            </a:r>
            <a:r>
              <a:rPr lang="en-US" altLang="zh-CN" sz="1400" dirty="0" err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TheWebConf</a:t>
            </a:r>
            <a:r>
              <a:rPr lang="en-US" altLang="zh-CN" sz="1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 (WWW) 2018.</a:t>
            </a:r>
          </a:p>
        </p:txBody>
      </p:sp>
      <p:sp>
        <p:nvSpPr>
          <p:cNvPr id="47" name="Line"/>
          <p:cNvSpPr/>
          <p:nvPr>
            <p:custDataLst>
              <p:tags r:id="rId4"/>
            </p:custDataLst>
          </p:nvPr>
        </p:nvSpPr>
        <p:spPr>
          <a:xfrm>
            <a:off x="8863330" y="3490595"/>
            <a:ext cx="601980" cy="4826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Line"/>
          <p:cNvSpPr/>
          <p:nvPr>
            <p:custDataLst>
              <p:tags r:id="rId5"/>
            </p:custDataLst>
          </p:nvPr>
        </p:nvSpPr>
        <p:spPr>
          <a:xfrm flipV="1">
            <a:off x="9224010" y="3377565"/>
            <a:ext cx="234950" cy="2413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Line"/>
          <p:cNvSpPr/>
          <p:nvPr>
            <p:custDataLst>
              <p:tags r:id="rId6"/>
            </p:custDataLst>
          </p:nvPr>
        </p:nvSpPr>
        <p:spPr>
          <a:xfrm flipV="1">
            <a:off x="9149080" y="3637915"/>
            <a:ext cx="283845" cy="3175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Line"/>
          <p:cNvSpPr/>
          <p:nvPr>
            <p:custDataLst>
              <p:tags r:id="rId7"/>
            </p:custDataLst>
          </p:nvPr>
        </p:nvSpPr>
        <p:spPr>
          <a:xfrm>
            <a:off x="8844915" y="3514725"/>
            <a:ext cx="134620" cy="13398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Line"/>
          <p:cNvSpPr/>
          <p:nvPr>
            <p:custDataLst>
              <p:tags r:id="rId8"/>
            </p:custDataLst>
          </p:nvPr>
        </p:nvSpPr>
        <p:spPr>
          <a:xfrm>
            <a:off x="8789670" y="3521075"/>
            <a:ext cx="18415" cy="26606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2" name="Line"/>
          <p:cNvSpPr/>
          <p:nvPr>
            <p:custDataLst>
              <p:tags r:id="rId9"/>
            </p:custDataLst>
          </p:nvPr>
        </p:nvSpPr>
        <p:spPr>
          <a:xfrm flipV="1">
            <a:off x="9121775" y="3395980"/>
            <a:ext cx="334645" cy="18224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3" name="Line"/>
          <p:cNvSpPr/>
          <p:nvPr>
            <p:custDataLst>
              <p:tags r:id="rId10"/>
            </p:custDataLst>
          </p:nvPr>
        </p:nvSpPr>
        <p:spPr>
          <a:xfrm flipV="1">
            <a:off x="9411335" y="3594735"/>
            <a:ext cx="73025" cy="15113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4" name="Line"/>
          <p:cNvSpPr/>
          <p:nvPr>
            <p:custDataLst>
              <p:tags r:id="rId11"/>
            </p:custDataLst>
          </p:nvPr>
        </p:nvSpPr>
        <p:spPr>
          <a:xfrm flipV="1">
            <a:off x="9114790" y="3432810"/>
            <a:ext cx="53340" cy="15240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Line"/>
          <p:cNvSpPr/>
          <p:nvPr>
            <p:custDataLst>
              <p:tags r:id="rId12"/>
            </p:custDataLst>
          </p:nvPr>
        </p:nvSpPr>
        <p:spPr>
          <a:xfrm flipV="1">
            <a:off x="7948930" y="1882775"/>
            <a:ext cx="128905" cy="12128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6" name="Line"/>
          <p:cNvSpPr/>
          <p:nvPr>
            <p:custDataLst>
              <p:tags r:id="rId13"/>
            </p:custDataLst>
          </p:nvPr>
        </p:nvSpPr>
        <p:spPr>
          <a:xfrm flipH="1" flipV="1">
            <a:off x="7771130" y="1911350"/>
            <a:ext cx="65405" cy="8890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Line"/>
          <p:cNvSpPr/>
          <p:nvPr>
            <p:custDataLst>
              <p:tags r:id="rId14"/>
            </p:custDataLst>
          </p:nvPr>
        </p:nvSpPr>
        <p:spPr>
          <a:xfrm flipH="1" flipV="1">
            <a:off x="7471410" y="1868170"/>
            <a:ext cx="354330" cy="14795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8" name="Line"/>
          <p:cNvSpPr/>
          <p:nvPr>
            <p:custDataLst>
              <p:tags r:id="rId15"/>
            </p:custDataLst>
          </p:nvPr>
        </p:nvSpPr>
        <p:spPr>
          <a:xfrm flipH="1">
            <a:off x="7173595" y="2270760"/>
            <a:ext cx="414655" cy="774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9" name="Line"/>
          <p:cNvSpPr/>
          <p:nvPr>
            <p:custDataLst>
              <p:tags r:id="rId16"/>
            </p:custDataLst>
          </p:nvPr>
        </p:nvSpPr>
        <p:spPr>
          <a:xfrm flipH="1">
            <a:off x="7831455" y="2748915"/>
            <a:ext cx="124460" cy="14668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Line"/>
          <p:cNvSpPr/>
          <p:nvPr>
            <p:custDataLst>
              <p:tags r:id="rId17"/>
            </p:custDataLst>
          </p:nvPr>
        </p:nvSpPr>
        <p:spPr>
          <a:xfrm>
            <a:off x="8635365" y="2243455"/>
            <a:ext cx="170815" cy="393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" name="Line"/>
          <p:cNvSpPr/>
          <p:nvPr>
            <p:custDataLst>
              <p:tags r:id="rId18"/>
            </p:custDataLst>
          </p:nvPr>
        </p:nvSpPr>
        <p:spPr>
          <a:xfrm flipV="1">
            <a:off x="8197215" y="1973580"/>
            <a:ext cx="274320" cy="3206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2" name="Line"/>
          <p:cNvSpPr/>
          <p:nvPr>
            <p:custDataLst>
              <p:tags r:id="rId19"/>
            </p:custDataLst>
          </p:nvPr>
        </p:nvSpPr>
        <p:spPr>
          <a:xfrm flipH="1" flipV="1">
            <a:off x="7907655" y="2047240"/>
            <a:ext cx="195580" cy="27749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3" name="Line"/>
          <p:cNvSpPr/>
          <p:nvPr>
            <p:custDataLst>
              <p:tags r:id="rId20"/>
            </p:custDataLst>
          </p:nvPr>
        </p:nvSpPr>
        <p:spPr>
          <a:xfrm flipV="1">
            <a:off x="7409180" y="2019300"/>
            <a:ext cx="431165" cy="1301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Line"/>
          <p:cNvSpPr/>
          <p:nvPr>
            <p:custDataLst>
              <p:tags r:id="rId21"/>
            </p:custDataLst>
          </p:nvPr>
        </p:nvSpPr>
        <p:spPr>
          <a:xfrm>
            <a:off x="7409180" y="2171700"/>
            <a:ext cx="200025" cy="10096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5" name="Line"/>
          <p:cNvSpPr/>
          <p:nvPr>
            <p:custDataLst>
              <p:tags r:id="rId22"/>
            </p:custDataLst>
          </p:nvPr>
        </p:nvSpPr>
        <p:spPr>
          <a:xfrm flipV="1">
            <a:off x="8201025" y="2260600"/>
            <a:ext cx="266065" cy="4889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6" name="Line"/>
          <p:cNvSpPr/>
          <p:nvPr>
            <p:custDataLst>
              <p:tags r:id="rId23"/>
            </p:custDataLst>
          </p:nvPr>
        </p:nvSpPr>
        <p:spPr>
          <a:xfrm flipV="1">
            <a:off x="8093075" y="2357120"/>
            <a:ext cx="40005" cy="2171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7" name="Line"/>
          <p:cNvSpPr/>
          <p:nvPr>
            <p:custDataLst>
              <p:tags r:id="rId24"/>
            </p:custDataLst>
          </p:nvPr>
        </p:nvSpPr>
        <p:spPr>
          <a:xfrm flipV="1">
            <a:off x="8098155" y="2313305"/>
            <a:ext cx="377825" cy="31115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8" name="Line"/>
          <p:cNvSpPr/>
          <p:nvPr>
            <p:custDataLst>
              <p:tags r:id="rId25"/>
            </p:custDataLst>
          </p:nvPr>
        </p:nvSpPr>
        <p:spPr>
          <a:xfrm flipV="1">
            <a:off x="7574915" y="2034540"/>
            <a:ext cx="329565" cy="6254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9" name="Line"/>
          <p:cNvSpPr/>
          <p:nvPr>
            <p:custDataLst>
              <p:tags r:id="rId26"/>
            </p:custDataLst>
          </p:nvPr>
        </p:nvSpPr>
        <p:spPr>
          <a:xfrm flipV="1">
            <a:off x="7578725" y="2327910"/>
            <a:ext cx="480060" cy="33274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0" name="Line"/>
          <p:cNvSpPr/>
          <p:nvPr>
            <p:custDataLst>
              <p:tags r:id="rId27"/>
            </p:custDataLst>
          </p:nvPr>
        </p:nvSpPr>
        <p:spPr>
          <a:xfrm flipV="1">
            <a:off x="7578090" y="2273935"/>
            <a:ext cx="78105" cy="38608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 dirty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1" name="Line"/>
          <p:cNvSpPr/>
          <p:nvPr>
            <p:custDataLst>
              <p:tags r:id="rId28"/>
            </p:custDataLst>
          </p:nvPr>
        </p:nvSpPr>
        <p:spPr>
          <a:xfrm flipV="1">
            <a:off x="7663180" y="2030095"/>
            <a:ext cx="197485" cy="23431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" name="Line"/>
          <p:cNvSpPr/>
          <p:nvPr>
            <p:custDataLst>
              <p:tags r:id="rId29"/>
            </p:custDataLst>
          </p:nvPr>
        </p:nvSpPr>
        <p:spPr>
          <a:xfrm flipV="1">
            <a:off x="8146415" y="1895475"/>
            <a:ext cx="1270" cy="30416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3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887335" y="251714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74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203440" y="197358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75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425815" y="209613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76" name="Oval"/>
          <p:cNvSpPr/>
          <p:nvPr>
            <p:custDataLst>
              <p:tags r:id="rId30"/>
            </p:custDataLst>
          </p:nvPr>
        </p:nvSpPr>
        <p:spPr>
          <a:xfrm>
            <a:off x="6820535" y="1567180"/>
            <a:ext cx="2249170" cy="1502410"/>
          </a:xfrm>
          <a:prstGeom prst="ellipse">
            <a:avLst/>
          </a:prstGeom>
          <a:noFill/>
          <a:ln w="25400" cap="flat">
            <a:solidFill>
              <a:srgbClr val="535353"/>
            </a:solidFill>
            <a:prstDash val="sysDot"/>
            <a:miter lim="400000"/>
          </a:ln>
          <a:effectLst/>
        </p:spPr>
        <p:txBody>
          <a:bodyPr wrap="square" lIns="35719" tIns="35719" rIns="35719" bIns="35719" numCol="1" anchor="ctr">
            <a:noAutofit/>
          </a:bodyPr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26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7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597140" y="167449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78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042275" y="166306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79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081520" y="254254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80" name="Line"/>
          <p:cNvSpPr/>
          <p:nvPr>
            <p:custDataLst>
              <p:tags r:id="rId31"/>
            </p:custDataLst>
          </p:nvPr>
        </p:nvSpPr>
        <p:spPr>
          <a:xfrm flipH="1">
            <a:off x="8524240" y="2338705"/>
            <a:ext cx="20320" cy="30924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" name="Line"/>
          <p:cNvSpPr/>
          <p:nvPr>
            <p:custDataLst>
              <p:tags r:id="rId32"/>
            </p:custDataLst>
          </p:nvPr>
        </p:nvSpPr>
        <p:spPr>
          <a:xfrm flipH="1">
            <a:off x="7289800" y="2696845"/>
            <a:ext cx="156845" cy="508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2" name="Line"/>
          <p:cNvSpPr/>
          <p:nvPr>
            <p:custDataLst>
              <p:tags r:id="rId33"/>
            </p:custDataLst>
          </p:nvPr>
        </p:nvSpPr>
        <p:spPr>
          <a:xfrm flipV="1">
            <a:off x="8842375" y="3757930"/>
            <a:ext cx="128905" cy="12128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3" name="Line"/>
          <p:cNvSpPr/>
          <p:nvPr>
            <p:custDataLst>
              <p:tags r:id="rId34"/>
            </p:custDataLst>
          </p:nvPr>
        </p:nvSpPr>
        <p:spPr>
          <a:xfrm flipH="1" flipV="1">
            <a:off x="8664575" y="3786505"/>
            <a:ext cx="65405" cy="8890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4" name="Line"/>
          <p:cNvSpPr/>
          <p:nvPr>
            <p:custDataLst>
              <p:tags r:id="rId35"/>
            </p:custDataLst>
          </p:nvPr>
        </p:nvSpPr>
        <p:spPr>
          <a:xfrm flipH="1" flipV="1">
            <a:off x="8364855" y="3743325"/>
            <a:ext cx="354330" cy="14795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5" name="Line"/>
          <p:cNvSpPr/>
          <p:nvPr>
            <p:custDataLst>
              <p:tags r:id="rId36"/>
            </p:custDataLst>
          </p:nvPr>
        </p:nvSpPr>
        <p:spPr>
          <a:xfrm flipH="1">
            <a:off x="8067040" y="4145915"/>
            <a:ext cx="414655" cy="774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6" name="Line"/>
          <p:cNvSpPr/>
          <p:nvPr>
            <p:custDataLst>
              <p:tags r:id="rId37"/>
            </p:custDataLst>
          </p:nvPr>
        </p:nvSpPr>
        <p:spPr>
          <a:xfrm flipH="1">
            <a:off x="8724900" y="4624070"/>
            <a:ext cx="124460" cy="14668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7" name="Line"/>
          <p:cNvSpPr/>
          <p:nvPr>
            <p:custDataLst>
              <p:tags r:id="rId38"/>
            </p:custDataLst>
          </p:nvPr>
        </p:nvSpPr>
        <p:spPr>
          <a:xfrm>
            <a:off x="9529445" y="4118610"/>
            <a:ext cx="170815" cy="393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8" name="Line"/>
          <p:cNvSpPr/>
          <p:nvPr>
            <p:custDataLst>
              <p:tags r:id="rId39"/>
            </p:custDataLst>
          </p:nvPr>
        </p:nvSpPr>
        <p:spPr>
          <a:xfrm flipV="1">
            <a:off x="9090660" y="3848735"/>
            <a:ext cx="274320" cy="3206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9" name="Line"/>
          <p:cNvSpPr/>
          <p:nvPr>
            <p:custDataLst>
              <p:tags r:id="rId40"/>
            </p:custDataLst>
          </p:nvPr>
        </p:nvSpPr>
        <p:spPr>
          <a:xfrm flipH="1" flipV="1">
            <a:off x="8801100" y="3922395"/>
            <a:ext cx="195580" cy="27749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0" name="Line"/>
          <p:cNvSpPr/>
          <p:nvPr>
            <p:custDataLst>
              <p:tags r:id="rId41"/>
            </p:custDataLst>
          </p:nvPr>
        </p:nvSpPr>
        <p:spPr>
          <a:xfrm flipV="1">
            <a:off x="8302625" y="3894455"/>
            <a:ext cx="431165" cy="1301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1" name="Line"/>
          <p:cNvSpPr/>
          <p:nvPr>
            <p:custDataLst>
              <p:tags r:id="rId42"/>
            </p:custDataLst>
          </p:nvPr>
        </p:nvSpPr>
        <p:spPr>
          <a:xfrm>
            <a:off x="8302625" y="4046855"/>
            <a:ext cx="200025" cy="10096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2" name="Line"/>
          <p:cNvSpPr/>
          <p:nvPr>
            <p:custDataLst>
              <p:tags r:id="rId43"/>
            </p:custDataLst>
          </p:nvPr>
        </p:nvSpPr>
        <p:spPr>
          <a:xfrm flipV="1">
            <a:off x="9095105" y="4135755"/>
            <a:ext cx="266065" cy="4889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3" name="Line"/>
          <p:cNvSpPr/>
          <p:nvPr>
            <p:custDataLst>
              <p:tags r:id="rId44"/>
            </p:custDataLst>
          </p:nvPr>
        </p:nvSpPr>
        <p:spPr>
          <a:xfrm flipV="1">
            <a:off x="8987155" y="4232275"/>
            <a:ext cx="40005" cy="21717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4" name="Line"/>
          <p:cNvSpPr/>
          <p:nvPr>
            <p:custDataLst>
              <p:tags r:id="rId45"/>
            </p:custDataLst>
          </p:nvPr>
        </p:nvSpPr>
        <p:spPr>
          <a:xfrm flipV="1">
            <a:off x="8991600" y="4188460"/>
            <a:ext cx="377825" cy="31115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Line"/>
          <p:cNvSpPr/>
          <p:nvPr>
            <p:custDataLst>
              <p:tags r:id="rId46"/>
            </p:custDataLst>
          </p:nvPr>
        </p:nvSpPr>
        <p:spPr>
          <a:xfrm flipV="1">
            <a:off x="8468995" y="3909695"/>
            <a:ext cx="329565" cy="62547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6" name="Line"/>
          <p:cNvSpPr/>
          <p:nvPr>
            <p:custDataLst>
              <p:tags r:id="rId47"/>
            </p:custDataLst>
          </p:nvPr>
        </p:nvSpPr>
        <p:spPr>
          <a:xfrm flipV="1">
            <a:off x="8472170" y="4203065"/>
            <a:ext cx="480060" cy="33274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7" name="Line"/>
          <p:cNvSpPr/>
          <p:nvPr>
            <p:custDataLst>
              <p:tags r:id="rId48"/>
            </p:custDataLst>
          </p:nvPr>
        </p:nvSpPr>
        <p:spPr>
          <a:xfrm flipV="1">
            <a:off x="8472170" y="4149090"/>
            <a:ext cx="78105" cy="38608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8" name="Line"/>
          <p:cNvSpPr/>
          <p:nvPr>
            <p:custDataLst>
              <p:tags r:id="rId49"/>
            </p:custDataLst>
          </p:nvPr>
        </p:nvSpPr>
        <p:spPr>
          <a:xfrm flipV="1">
            <a:off x="8557260" y="3905885"/>
            <a:ext cx="197485" cy="23431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9" name="Line"/>
          <p:cNvSpPr/>
          <p:nvPr>
            <p:custDataLst>
              <p:tags r:id="rId50"/>
            </p:custDataLst>
          </p:nvPr>
        </p:nvSpPr>
        <p:spPr>
          <a:xfrm flipV="1">
            <a:off x="9039860" y="3770630"/>
            <a:ext cx="1270" cy="30416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0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780780" y="439229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01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097520" y="384873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02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319260" y="397129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103" name="Oval"/>
          <p:cNvSpPr/>
          <p:nvPr>
            <p:custDataLst>
              <p:tags r:id="rId51"/>
            </p:custDataLst>
          </p:nvPr>
        </p:nvSpPr>
        <p:spPr>
          <a:xfrm>
            <a:off x="7668895" y="3131820"/>
            <a:ext cx="2548255" cy="1844040"/>
          </a:xfrm>
          <a:prstGeom prst="ellipse">
            <a:avLst/>
          </a:prstGeom>
          <a:noFill/>
          <a:ln w="25400" cap="flat">
            <a:solidFill>
              <a:srgbClr val="535353"/>
            </a:solidFill>
            <a:prstDash val="sysDot"/>
            <a:miter lim="400000"/>
          </a:ln>
          <a:effectLst/>
        </p:spPr>
        <p:txBody>
          <a:bodyPr wrap="square" lIns="35719" tIns="35719" rIns="35719" bIns="35719" numCol="1" anchor="ctr">
            <a:noAutofit/>
          </a:bodyPr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126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4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491220" y="354965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05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935720" y="3538220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06" name="pasted-image.tiff" descr="pasted-image.tiff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974965" y="4417695"/>
            <a:ext cx="244475" cy="24447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107" name="Line"/>
          <p:cNvSpPr/>
          <p:nvPr>
            <p:custDataLst>
              <p:tags r:id="rId52"/>
            </p:custDataLst>
          </p:nvPr>
        </p:nvSpPr>
        <p:spPr>
          <a:xfrm flipH="1">
            <a:off x="9417685" y="4213860"/>
            <a:ext cx="20320" cy="309245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" name="Line"/>
          <p:cNvSpPr/>
          <p:nvPr>
            <p:custDataLst>
              <p:tags r:id="rId53"/>
            </p:custDataLst>
          </p:nvPr>
        </p:nvSpPr>
        <p:spPr>
          <a:xfrm flipH="1">
            <a:off x="8183245" y="4572000"/>
            <a:ext cx="156845" cy="5080"/>
          </a:xfrm>
          <a:prstGeom prst="line">
            <a:avLst/>
          </a:prstGeom>
          <a:noFill/>
          <a:ln w="25400" cap="flat">
            <a:solidFill>
              <a:srgbClr val="A7A7A7"/>
            </a:solidFill>
            <a:prstDash val="solid"/>
            <a:bevel/>
          </a:ln>
          <a:effectLst/>
        </p:spPr>
        <p:txBody>
          <a:bodyPr wrap="square" lIns="32145" tIns="32145" rIns="32145" bIns="32145" numCol="1" anchor="t">
            <a:noAutofit/>
          </a:bodyPr>
          <a:lstStyle/>
          <a:p>
            <a:pPr defTabSz="32131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9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415020" y="184150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0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747760" y="215265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1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044815" y="215836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2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785735" y="185928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3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352665" y="171640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4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406130" y="250634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5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419340" y="252412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6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705090" y="276542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7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040245" y="219392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8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544435" y="210502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19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632315" y="400939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0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86240" y="369125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1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689975" y="373062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2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28735" y="403415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3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39785" y="398081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4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35950" y="358394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5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39405" y="406654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6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07705" y="439166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7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625205" y="462343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8" name="pasted-image.tiff" descr="pasted-image.tiff"/>
          <p:cNvPicPr>
            <a:picLocks noChangeAspect="1"/>
          </p:cNvPicPr>
          <p:nvPr/>
        </p:nvPicPr>
        <p:blipFill>
          <a:blip r:embed="rId6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328785" y="440563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29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713470" y="334581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30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403080" y="346202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31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083040" y="3251835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132" name="pasted-image.tiff" descr="pasted-image.tiff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377045" y="3218180"/>
            <a:ext cx="194945" cy="194945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133" name="Users from source mobilize to target…"/>
          <p:cNvSpPr txBox="1"/>
          <p:nvPr>
            <p:custDataLst>
              <p:tags r:id="rId54"/>
            </p:custDataLst>
          </p:nvPr>
        </p:nvSpPr>
        <p:spPr>
          <a:xfrm>
            <a:off x="9387840" y="1172210"/>
            <a:ext cx="2360295" cy="13017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5719" tIns="35719" rIns="35719" bIns="35719" numCol="1" anchor="ctr">
            <a:spAutoFit/>
          </a:bodyPr>
          <a:lstStyle/>
          <a:p>
            <a:pPr>
              <a:defRPr sz="2400"/>
            </a:pPr>
            <a:r>
              <a:rPr lang="en-US"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Members of </a:t>
            </a:r>
            <a:r>
              <a:rPr sz="2000" b="1" dirty="0">
                <a:solidFill>
                  <a:schemeClr val="dk1"/>
                </a:solidFill>
                <a:ea typeface="黑体" panose="02010609060101010101" charset="-122"/>
                <a:cs typeface="+mn-lt"/>
                <a:sym typeface="Helvetica"/>
              </a:rPr>
              <a:t>source</a:t>
            </a:r>
            <a:r>
              <a:rPr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 </a:t>
            </a:r>
            <a:r>
              <a:rPr lang="en-US"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may be </a:t>
            </a:r>
            <a:r>
              <a:rPr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mobilize</a:t>
            </a:r>
            <a:r>
              <a:rPr lang="en-US"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d </a:t>
            </a:r>
            <a:r>
              <a:rPr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to </a:t>
            </a:r>
            <a:r>
              <a:rPr lang="en-US" sz="20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comment in the linked </a:t>
            </a:r>
            <a:r>
              <a:rPr sz="2000" b="1" dirty="0">
                <a:solidFill>
                  <a:schemeClr val="dk1"/>
                </a:solidFill>
                <a:ea typeface="黑体" panose="02010609060101010101" charset="-122"/>
                <a:cs typeface="+mn-lt"/>
                <a:sym typeface="Helvetica"/>
              </a:rPr>
              <a:t>target</a:t>
            </a:r>
            <a:r>
              <a:rPr lang="en-US" sz="2000" b="1" dirty="0">
                <a:solidFill>
                  <a:schemeClr val="dk1"/>
                </a:solidFill>
                <a:ea typeface="黑体" panose="02010609060101010101" charset="-122"/>
                <a:cs typeface="+mn-lt"/>
                <a:sym typeface="Helvetica"/>
              </a:rPr>
              <a:t> post</a:t>
            </a:r>
          </a:p>
        </p:txBody>
      </p:sp>
      <p:sp>
        <p:nvSpPr>
          <p:cNvPr id="135" name="Line"/>
          <p:cNvSpPr/>
          <p:nvPr>
            <p:custDataLst>
              <p:tags r:id="rId55"/>
            </p:custDataLst>
          </p:nvPr>
        </p:nvSpPr>
        <p:spPr>
          <a:xfrm flipH="1">
            <a:off x="9286240" y="2528570"/>
            <a:ext cx="323850" cy="723265"/>
          </a:xfrm>
          <a:prstGeom prst="line">
            <a:avLst/>
          </a:prstGeom>
          <a:noFill/>
          <a:ln w="101600" cap="flat">
            <a:solidFill>
              <a:srgbClr val="C00000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35719" tIns="35719" rIns="35719" bIns="35719" numCol="1" anchor="ctr">
            <a:noAutofit/>
          </a:bodyPr>
          <a:lstStyle/>
          <a:p>
            <a:pPr>
              <a:defRPr sz="2400"/>
            </a:pPr>
            <a:endParaRPr sz="1685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9" name="Oval 5"/>
          <p:cNvSpPr/>
          <p:nvPr>
            <p:custDataLst>
              <p:tags r:id="rId56"/>
            </p:custDataLst>
          </p:nvPr>
        </p:nvSpPr>
        <p:spPr>
          <a:xfrm>
            <a:off x="8649335" y="3180080"/>
            <a:ext cx="1098550" cy="493395"/>
          </a:xfrm>
          <a:prstGeom prst="ellipse">
            <a:avLst/>
          </a:prstGeom>
          <a:noFill/>
          <a:ln w="2540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0" name="TextBox 4"/>
          <p:cNvSpPr txBox="1"/>
          <p:nvPr/>
        </p:nvSpPr>
        <p:spPr>
          <a:xfrm>
            <a:off x="9529445" y="2806065"/>
            <a:ext cx="1628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Attackers</a:t>
            </a:r>
          </a:p>
        </p:txBody>
      </p:sp>
      <p:sp>
        <p:nvSpPr>
          <p:cNvPr id="141" name="TextBox 178"/>
          <p:cNvSpPr txBox="1"/>
          <p:nvPr>
            <p:custDataLst>
              <p:tags r:id="rId57"/>
            </p:custDataLst>
          </p:nvPr>
        </p:nvSpPr>
        <p:spPr>
          <a:xfrm>
            <a:off x="10241915" y="3364230"/>
            <a:ext cx="16490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Defenders</a:t>
            </a:r>
          </a:p>
        </p:txBody>
      </p:sp>
      <p:sp>
        <p:nvSpPr>
          <p:cNvPr id="142" name="Down Arrow 10"/>
          <p:cNvSpPr/>
          <p:nvPr>
            <p:custDataLst>
              <p:tags r:id="rId58"/>
            </p:custDataLst>
          </p:nvPr>
        </p:nvSpPr>
        <p:spPr>
          <a:xfrm rot="4647328">
            <a:off x="9795510" y="3324860"/>
            <a:ext cx="193675" cy="781685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75371" y="1524093"/>
            <a:ext cx="4831435" cy="29477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59"/>
            </p:custDataLst>
          </p:nvPr>
        </p:nvSpPr>
        <p:spPr>
          <a:xfrm>
            <a:off x="564822" y="44419"/>
            <a:ext cx="112375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Community conflict model:  mobilization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60"/>
            </p:custDataLst>
          </p:nvPr>
        </p:nvSpPr>
        <p:spPr>
          <a:xfrm>
            <a:off x="434175" y="4740533"/>
            <a:ext cx="10515600" cy="4351338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how community interaction occurs</a:t>
            </a:r>
          </a:p>
          <a:p>
            <a:r>
              <a:rPr lang="en-US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Successfully </a:t>
            </a:r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mobilizing posts(burst) 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are created by highly active </a:t>
            </a:r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‘core’ members(with high page rank) </a:t>
            </a:r>
            <a:r>
              <a:rPr lang="en-US" altLang="zh-CN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of the source community.</a:t>
            </a:r>
            <a:endParaRPr lang="en-US" altLang="zh-CN" sz="2800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  <a:p>
            <a:endParaRPr lang="en-US" altLang="zh-CN" sz="2800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" y="853467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pasted-image.tiff" descr="pasted-image.tiff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6949" y="3750804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61429" y="1783116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10" name="Straight Arrow Connector 24"/>
          <p:cNvCxnSpPr/>
          <p:nvPr>
            <p:custDataLst>
              <p:tags r:id="rId5"/>
            </p:custDataLst>
          </p:nvPr>
        </p:nvCxnSpPr>
        <p:spPr>
          <a:xfrm flipH="1">
            <a:off x="1810136" y="2394336"/>
            <a:ext cx="1207897" cy="66755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asted-image.tiff" descr="pasted-image.tiff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97870" y="3110968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12" name="Straight Arrow Connector 28"/>
          <p:cNvCxnSpPr/>
          <p:nvPr>
            <p:custDataLst>
              <p:tags r:id="rId6"/>
            </p:custDataLst>
          </p:nvPr>
        </p:nvCxnSpPr>
        <p:spPr>
          <a:xfrm flipH="1" flipV="1">
            <a:off x="1933101" y="1977121"/>
            <a:ext cx="1112483" cy="30934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asted-image.tiff" descr="pasted-image.tiff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04589" y="1973938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14" name="Straight Arrow Connector 30"/>
          <p:cNvCxnSpPr/>
          <p:nvPr>
            <p:custDataLst>
              <p:tags r:id="rId7"/>
            </p:custDataLst>
          </p:nvPr>
        </p:nvCxnSpPr>
        <p:spPr>
          <a:xfrm flipV="1">
            <a:off x="3538111" y="1999877"/>
            <a:ext cx="723318" cy="190822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asted-image.tiff" descr="pasted-image.tiff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85310" y="2289965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84511" y="3239365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17" name="Straight Arrow Connector 33"/>
          <p:cNvCxnSpPr/>
          <p:nvPr>
            <p:custDataLst>
              <p:tags r:id="rId8"/>
            </p:custDataLst>
          </p:nvPr>
        </p:nvCxnSpPr>
        <p:spPr>
          <a:xfrm flipH="1">
            <a:off x="4793574" y="2642867"/>
            <a:ext cx="624696" cy="323560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60052" y="2749666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464641" y="3163187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41857" y="1694979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21" name="Straight Arrow Connector 37"/>
          <p:cNvCxnSpPr/>
          <p:nvPr>
            <p:custDataLst>
              <p:tags r:id="rId9"/>
            </p:custDataLst>
          </p:nvPr>
        </p:nvCxnSpPr>
        <p:spPr>
          <a:xfrm flipV="1">
            <a:off x="5681402" y="2800028"/>
            <a:ext cx="0" cy="363159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38"/>
          <p:cNvCxnSpPr/>
          <p:nvPr>
            <p:custDataLst>
              <p:tags r:id="rId10"/>
            </p:custDataLst>
          </p:nvPr>
        </p:nvCxnSpPr>
        <p:spPr>
          <a:xfrm flipH="1" flipV="1">
            <a:off x="4793574" y="3170581"/>
            <a:ext cx="671067" cy="209367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39"/>
          <p:cNvCxnSpPr/>
          <p:nvPr>
            <p:custDataLst>
              <p:tags r:id="rId11"/>
            </p:custDataLst>
          </p:nvPr>
        </p:nvCxnSpPr>
        <p:spPr>
          <a:xfrm flipV="1">
            <a:off x="4819582" y="3526164"/>
            <a:ext cx="652713" cy="289265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40"/>
          <p:cNvCxnSpPr/>
          <p:nvPr>
            <p:custDataLst>
              <p:tags r:id="rId12"/>
            </p:custDataLst>
          </p:nvPr>
        </p:nvCxnSpPr>
        <p:spPr>
          <a:xfrm flipV="1">
            <a:off x="2928528" y="2471325"/>
            <a:ext cx="306266" cy="751315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41"/>
          <p:cNvCxnSpPr/>
          <p:nvPr>
            <p:custDataLst>
              <p:tags r:id="rId13"/>
            </p:custDataLst>
          </p:nvPr>
        </p:nvCxnSpPr>
        <p:spPr>
          <a:xfrm flipH="1">
            <a:off x="1674684" y="2216638"/>
            <a:ext cx="108071" cy="819551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42"/>
          <p:cNvCxnSpPr/>
          <p:nvPr>
            <p:custDataLst>
              <p:tags r:id="rId14"/>
            </p:custDataLst>
          </p:nvPr>
        </p:nvCxnSpPr>
        <p:spPr>
          <a:xfrm flipH="1" flipV="1">
            <a:off x="3538112" y="2458287"/>
            <a:ext cx="821940" cy="508140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43"/>
          <p:cNvCxnSpPr/>
          <p:nvPr>
            <p:custDataLst>
              <p:tags r:id="rId15"/>
            </p:custDataLst>
          </p:nvPr>
        </p:nvCxnSpPr>
        <p:spPr>
          <a:xfrm>
            <a:off x="4694951" y="1999877"/>
            <a:ext cx="723318" cy="433522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44"/>
          <p:cNvCxnSpPr>
            <a:endCxn id="16" idx="1"/>
          </p:cNvCxnSpPr>
          <p:nvPr>
            <p:custDataLst>
              <p:tags r:id="rId16"/>
            </p:custDataLst>
          </p:nvPr>
        </p:nvCxnSpPr>
        <p:spPr>
          <a:xfrm>
            <a:off x="1892407" y="3311388"/>
            <a:ext cx="692104" cy="14473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45"/>
          <p:cNvCxnSpPr/>
          <p:nvPr>
            <p:custDataLst>
              <p:tags r:id="rId17"/>
            </p:custDataLst>
          </p:nvPr>
        </p:nvCxnSpPr>
        <p:spPr>
          <a:xfrm>
            <a:off x="3135259" y="3504447"/>
            <a:ext cx="1221690" cy="46311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46"/>
          <p:cNvCxnSpPr/>
          <p:nvPr>
            <p:custDataLst>
              <p:tags r:id="rId18"/>
            </p:custDataLst>
          </p:nvPr>
        </p:nvCxnSpPr>
        <p:spPr>
          <a:xfrm flipV="1">
            <a:off x="4543821" y="3183188"/>
            <a:ext cx="32992" cy="489699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asted-image.tiff" descr="pasted-image.tiff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96946" y="1902394"/>
            <a:ext cx="686063" cy="5689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" name="pasted-image.tiff" descr="pasted-image.tiff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23851" y="3061894"/>
            <a:ext cx="686063" cy="5689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" name="Freeform 50"/>
          <p:cNvSpPr/>
          <p:nvPr>
            <p:custDataLst>
              <p:tags r:id="rId19"/>
            </p:custDataLst>
          </p:nvPr>
        </p:nvSpPr>
        <p:spPr>
          <a:xfrm>
            <a:off x="3294560" y="1456730"/>
            <a:ext cx="2370565" cy="1237305"/>
          </a:xfrm>
          <a:custGeom>
            <a:avLst/>
            <a:gdLst>
              <a:gd name="connsiteX0" fmla="*/ 0 w 2370565"/>
              <a:gd name="connsiteY0" fmla="*/ 358999 h 1237305"/>
              <a:gd name="connsiteX1" fmla="*/ 1215189 w 2370565"/>
              <a:gd name="connsiteY1" fmla="*/ 10084 h 1237305"/>
              <a:gd name="connsiteX2" fmla="*/ 2370221 w 2370565"/>
              <a:gd name="connsiteY2" fmla="*/ 707915 h 1237305"/>
              <a:gd name="connsiteX3" fmla="*/ 1347537 w 2370565"/>
              <a:gd name="connsiteY3" fmla="*/ 1237305 h 123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0565" h="1237305">
                <a:moveTo>
                  <a:pt x="0" y="358999"/>
                </a:moveTo>
                <a:cubicBezTo>
                  <a:pt x="410076" y="155465"/>
                  <a:pt x="820152" y="-48069"/>
                  <a:pt x="1215189" y="10084"/>
                </a:cubicBezTo>
                <a:cubicBezTo>
                  <a:pt x="1610226" y="68237"/>
                  <a:pt x="2348163" y="503378"/>
                  <a:pt x="2370221" y="707915"/>
                </a:cubicBezTo>
                <a:cubicBezTo>
                  <a:pt x="2392279" y="912452"/>
                  <a:pt x="1347537" y="1237305"/>
                  <a:pt x="1347537" y="1237305"/>
                </a:cubicBezTo>
              </a:path>
            </a:pathLst>
          </a:custGeom>
          <a:noFill/>
          <a:ln w="25400">
            <a:solidFill>
              <a:schemeClr val="lt2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Freeform 51"/>
          <p:cNvSpPr/>
          <p:nvPr>
            <p:custDataLst>
              <p:tags r:id="rId20"/>
            </p:custDataLst>
          </p:nvPr>
        </p:nvSpPr>
        <p:spPr>
          <a:xfrm>
            <a:off x="1670297" y="3643612"/>
            <a:ext cx="4271210" cy="759049"/>
          </a:xfrm>
          <a:custGeom>
            <a:avLst/>
            <a:gdLst>
              <a:gd name="connsiteX0" fmla="*/ 0 w 4271210"/>
              <a:gd name="connsiteY0" fmla="*/ 917 h 759049"/>
              <a:gd name="connsiteX1" fmla="*/ 1167063 w 4271210"/>
              <a:gd name="connsiteY1" fmla="*/ 121233 h 759049"/>
              <a:gd name="connsiteX2" fmla="*/ 2983831 w 4271210"/>
              <a:gd name="connsiteY2" fmla="*/ 758907 h 759049"/>
              <a:gd name="connsiteX3" fmla="*/ 4271210 w 4271210"/>
              <a:gd name="connsiteY3" fmla="*/ 61075 h 75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1210" h="759049">
                <a:moveTo>
                  <a:pt x="0" y="917"/>
                </a:moveTo>
                <a:cubicBezTo>
                  <a:pt x="334879" y="-2091"/>
                  <a:pt x="669758" y="-5099"/>
                  <a:pt x="1167063" y="121233"/>
                </a:cubicBezTo>
                <a:cubicBezTo>
                  <a:pt x="1664368" y="247565"/>
                  <a:pt x="2466473" y="768933"/>
                  <a:pt x="2983831" y="758907"/>
                </a:cubicBezTo>
                <a:cubicBezTo>
                  <a:pt x="3501189" y="748881"/>
                  <a:pt x="4271210" y="61075"/>
                  <a:pt x="4271210" y="61075"/>
                </a:cubicBezTo>
              </a:path>
            </a:pathLst>
          </a:custGeom>
          <a:noFill/>
          <a:ln w="25400">
            <a:solidFill>
              <a:schemeClr val="lt2">
                <a:lumMod val="50000"/>
              </a:schemeClr>
            </a:solidFill>
            <a:prstDash val="sys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8" name="pasted-image.tiff" descr="pasted-image.tiff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51293" y="2407279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Rectangle 48"/>
          <p:cNvSpPr/>
          <p:nvPr>
            <p:custDataLst>
              <p:tags r:id="rId21"/>
            </p:custDataLst>
          </p:nvPr>
        </p:nvSpPr>
        <p:spPr>
          <a:xfrm>
            <a:off x="8542860" y="2439374"/>
            <a:ext cx="225996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Attacker node</a:t>
            </a:r>
          </a:p>
        </p:txBody>
      </p:sp>
      <p:pic>
        <p:nvPicPr>
          <p:cNvPr id="50" name="pasted-image.tiff" descr="pasted-image.tiff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60434" y="3024181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1" name="Rectangle 52"/>
          <p:cNvSpPr/>
          <p:nvPr>
            <p:custDataLst>
              <p:tags r:id="rId22"/>
            </p:custDataLst>
          </p:nvPr>
        </p:nvSpPr>
        <p:spPr>
          <a:xfrm>
            <a:off x="8542860" y="3005656"/>
            <a:ext cx="24028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Defender node</a:t>
            </a:r>
          </a:p>
        </p:txBody>
      </p:sp>
      <p:sp>
        <p:nvSpPr>
          <p:cNvPr id="52" name="Rectangle 53"/>
          <p:cNvSpPr/>
          <p:nvPr>
            <p:custDataLst>
              <p:tags r:id="rId23"/>
            </p:custDataLst>
          </p:nvPr>
        </p:nvSpPr>
        <p:spPr>
          <a:xfrm>
            <a:off x="8051293" y="1840997"/>
            <a:ext cx="13576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Legend:</a:t>
            </a:r>
          </a:p>
        </p:txBody>
      </p:sp>
      <p:sp>
        <p:nvSpPr>
          <p:cNvPr id="54" name="文本框 53"/>
          <p:cNvSpPr txBox="1"/>
          <p:nvPr>
            <p:custDataLst>
              <p:tags r:id="rId24"/>
            </p:custDataLst>
          </p:nvPr>
        </p:nvSpPr>
        <p:spPr>
          <a:xfrm>
            <a:off x="575034" y="4553095"/>
            <a:ext cx="10212736" cy="274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A-PageRank: </a:t>
            </a: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Run PageRank but restrict the teleport set to just attackers.</a:t>
            </a:r>
          </a:p>
          <a:p>
            <a:pPr marL="457200" lvl="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Quantifies node centrality with respect to all attackers.</a:t>
            </a:r>
          </a:p>
          <a:p>
            <a:pPr marL="457200" lvl="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D-PageRank: </a:t>
            </a: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Run PageRank but restrict the teleport set to just defenders.</a:t>
            </a:r>
          </a:p>
          <a:p>
            <a:pPr marL="457200" lvl="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Quantifies node centrality with respect to all defenders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272415" y="14703"/>
            <a:ext cx="10515600" cy="1126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Attacker PageRank &amp; Defender PageRank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07407E-6 L -2.70833E-6 0.00024 C 0.00456 -0.00046 0.00912 -0.00069 0.0138 -0.00162 C 0.01485 -0.00185 0.01576 -0.00301 0.01667 -0.00347 C 0.02709 -0.00763 0.01888 -0.00301 0.02565 -0.00694 C 0.02657 -0.0081 0.02748 -0.00949 0.02852 -0.01041 C 0.03295 -0.01388 0.03373 -0.01296 0.03737 -0.01574 C 0.04076 -0.01805 0.04388 -0.02083 0.04727 -0.02268 C 0.04831 -0.02338 0.04922 -0.02384 0.05026 -0.02453 C 0.05209 -0.02569 0.05586 -0.0287 0.05821 -0.02963 C 0.05977 -0.03055 0.06146 -0.03078 0.06302 -0.03148 C 0.07357 -0.03888 0.0625 -0.03171 0.07292 -0.0368 C 0.075 -0.03773 0.07696 -0.03912 0.07891 -0.04027 L 0.08177 -0.04189 C 0.08386 -0.04074 0.08568 -0.03935 0.08776 -0.03842 C 0.08907 -0.03796 0.09037 -0.0375 0.09167 -0.0368 C 0.09675 -0.03333 0.09492 -0.0331 0.09961 -0.02801 C 0.10235 -0.02476 0.10365 -0.0243 0.10651 -0.02268 C 0.11198 -0.01296 0.10326 -0.02777 0.11641 -0.01226 C 0.12305 -0.00416 0.11485 -0.01365 0.12617 -0.00162 C 0.12722 -0.00046 0.12813 0.00093 0.12917 0.00186 C 0.13008 0.00278 0.13112 0.00301 0.13216 0.00371 C 0.13386 0.00463 0.13555 0.00579 0.13711 0.00718 C 0.13815 0.00811 0.13907 0.00949 0.13998 0.01065 C 0.14662 0.01737 0.14141 0.01158 0.14688 0.01598 C 0.15899 0.02524 0.14388 0.01412 0.15391 0.02292 C 0.15521 0.02408 0.15951 0.02593 0.16081 0.02639 C 0.16172 0.02755 0.16263 0.02894 0.16367 0.02987 C 0.16511 0.03125 0.1694 0.03287 0.17058 0.03334 C 0.17904 0.04352 0.16836 0.03149 0.17657 0.03866 C 0.17761 0.03959 0.17852 0.04098 0.17956 0.04213 C 0.18021 0.04329 0.18073 0.04491 0.18151 0.04584 C 0.18242 0.04676 0.18347 0.04699 0.18438 0.04746 C 0.18477 0.04931 0.18581 0.05093 0.18542 0.05278 C 0.18503 0.0551 0.18347 0.05649 0.18242 0.05811 C 0.17956 0.06227 0.17748 0.06297 0.17357 0.06505 L 0.16667 0.06852 C 0.16407 0.06968 0.1612 0.06991 0.15873 0.07199 C 0.15339 0.07686 0.15326 0.07732 0.14597 0.08079 C 0.14401 0.08172 0.14206 0.08195 0.13998 0.08264 C 0.13841 0.08311 0.13477 0.08473 0.13308 0.08612 C 0.13177 0.08704 0.1306 0.08866 0.12917 0.08959 C 0.12722 0.09098 0.12526 0.0919 0.12331 0.09306 C 0.12227 0.09375 0.12123 0.09399 0.12032 0.09491 C 0.11901 0.09607 0.11771 0.09746 0.11641 0.09838 C 0.11472 0.09931 0.11302 0.09954 0.11146 0.10024 C 0.11016 0.1007 0.10886 0.10139 0.10742 0.10186 C 0.10651 0.10301 0.1056 0.1044 0.10456 0.10533 C 0.10365 0.10625 0.10248 0.10625 0.10157 0.10718 C 0.09948 0.10926 0.09766 0.11181 0.09558 0.11412 C 0.09466 0.11528 0.09349 0.11621 0.09271 0.1176 C 0.09102 0.12061 0.08776 0.13056 0.08776 0.12639 L 0.08776 0.12292 L 0.08776 0.12315 " pathEditMode="relative" rAng="0" ptsTypes="AAAAAAAAA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71" y="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3.75E-6 0.00023 C 0.02148 0.0037 0.00351 0.00092 0.04231 0.00347 C 0.05807 0.0044 0.06849 0.00555 0.08385 0.00694 C 0.08515 0.0081 0.08632 0.00949 0.08776 0.01041 C 0.08932 0.01134 0.09114 0.01111 0.0927 0.01227 C 0.09362 0.01273 0.09388 0.01481 0.09466 0.01574 C 0.09596 0.01713 0.09726 0.01828 0.09856 0.01921 C 0.10156 0.02129 0.10481 0.02152 0.10755 0.02453 C 0.10911 0.02615 0.11067 0.02824 0.1125 0.02963 C 0.11562 0.0324 0.11927 0.03356 0.12226 0.0368 C 0.13606 0.05139 0.11875 0.03356 0.13216 0.0456 C 0.14049 0.05301 0.13385 0.04815 0.14101 0.05602 C 0.14492 0.06018 0.15351 0.06828 0.15781 0.07176 C 0.1595 0.07315 0.16119 0.07407 0.16276 0.07546 C 0.16445 0.07685 0.16601 0.07916 0.1677 0.08055 C 0.17161 0.08379 0.17591 0.08541 0.17955 0.08935 C 0.18125 0.0912 0.18268 0.09328 0.1845 0.09467 C 0.18632 0.09629 0.18854 0.09652 0.19036 0.09815 C 0.19622 0.10347 0.19297 0.10092 0.20026 0.10532 L 0.20911 0.11041 L 0.21211 0.11227 L 0.2151 0.11412 C 0.2164 0.11342 0.2177 0.11319 0.21901 0.11227 C 0.22044 0.11134 0.22161 0.10972 0.22291 0.10879 C 0.22526 0.10694 0.22747 0.10509 0.22994 0.10347 C 0.23737 0.09861 0.24505 0.09398 0.2526 0.08935 C 0.25455 0.08819 0.25664 0.08727 0.25846 0.08588 C 0.2625 0.0831 0.26627 0.07963 0.27031 0.07708 C 0.27382 0.075 0.2776 0.07384 0.28125 0.07176 C 0.28789 0.06805 0.30091 0.05949 0.30091 0.05972 C 0.30664 0.05277 0.30104 0.05879 0.30976 0.05254 C 0.31836 0.04652 0.30911 0.05115 0.3177 0.04722 C 0.31901 0.04606 0.32031 0.0449 0.32161 0.04375 C 0.32265 0.04305 0.32369 0.04305 0.32461 0.04213 C 0.32539 0.0412 0.32591 0.03958 0.32656 0.03842 C 0.32747 0.03727 0.32864 0.03634 0.32955 0.03495 C 0.33033 0.03402 0.33086 0.0324 0.33151 0.03148 C 0.33711 0.02361 0.33281 0.03102 0.33554 0.02615 L 0.33554 0.02639 " pathEditMode="relative" rAng="0" ptsTypes="AAAAAAAAAAAAAAAAAAAAAAAAAAAAAAAAAAAAAAAA">
                                      <p:cBhvr>
                                        <p:cTn id="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5" name="pasted-image.tiff" descr="pasted-image.tiff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90154" y="1309652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6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52004" y="1332408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57" name="Straight Arrow Connector 6"/>
          <p:cNvCxnSpPr/>
          <p:nvPr>
            <p:custDataLst>
              <p:tags r:id="rId3"/>
            </p:custDataLst>
          </p:nvPr>
        </p:nvCxnSpPr>
        <p:spPr>
          <a:xfrm flipH="1">
            <a:off x="7000711" y="1943628"/>
            <a:ext cx="1207897" cy="66755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asted-image.tiff" descr="pasted-image.tiff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8445" y="2660260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59" name="Straight Arrow Connector 10"/>
          <p:cNvCxnSpPr>
            <a:stCxn id="58" idx="3"/>
            <a:endCxn id="63" idx="1"/>
          </p:cNvCxnSpPr>
          <p:nvPr>
            <p:custDataLst>
              <p:tags r:id="rId4"/>
            </p:custDataLst>
          </p:nvPr>
        </p:nvCxnSpPr>
        <p:spPr>
          <a:xfrm>
            <a:off x="7121967" y="2877021"/>
            <a:ext cx="653119" cy="59613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/>
          <p:cNvCxnSpPr>
            <a:endCxn id="55" idx="3"/>
          </p:cNvCxnSpPr>
          <p:nvPr>
            <p:custDataLst>
              <p:tags r:id="rId5"/>
            </p:custDataLst>
          </p:nvPr>
        </p:nvCxnSpPr>
        <p:spPr>
          <a:xfrm flipH="1" flipV="1">
            <a:off x="7123676" y="1526413"/>
            <a:ext cx="1112483" cy="30934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asted-image.tiff" descr="pasted-image.tiff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5164" y="1523230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62" name="Straight Arrow Connector 14"/>
          <p:cNvCxnSpPr>
            <a:stCxn id="61" idx="3"/>
            <a:endCxn id="56" idx="1"/>
          </p:cNvCxnSpPr>
          <p:nvPr>
            <p:custDataLst>
              <p:tags r:id="rId6"/>
            </p:custDataLst>
          </p:nvPr>
        </p:nvCxnSpPr>
        <p:spPr>
          <a:xfrm flipV="1">
            <a:off x="8728686" y="1549169"/>
            <a:ext cx="723318" cy="190822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asted-image.tiff" descr="pasted-image.tiff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5086" y="2719873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4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08844" y="1765930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65" name="Straight Arrow Connector 20"/>
          <p:cNvCxnSpPr>
            <a:endCxn id="66" idx="3"/>
          </p:cNvCxnSpPr>
          <p:nvPr>
            <p:custDataLst>
              <p:tags r:id="rId7"/>
            </p:custDataLst>
          </p:nvPr>
        </p:nvCxnSpPr>
        <p:spPr>
          <a:xfrm flipH="1">
            <a:off x="9984149" y="2192159"/>
            <a:ext cx="624696" cy="323560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550627" y="2298958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7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55216" y="2712479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8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584289" y="3162017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69" name="Straight Arrow Connector 25"/>
          <p:cNvCxnSpPr/>
          <p:nvPr>
            <p:custDataLst>
              <p:tags r:id="rId8"/>
            </p:custDataLst>
          </p:nvPr>
        </p:nvCxnSpPr>
        <p:spPr>
          <a:xfrm flipV="1">
            <a:off x="10871977" y="2349320"/>
            <a:ext cx="0" cy="363159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6"/>
          <p:cNvCxnSpPr/>
          <p:nvPr>
            <p:custDataLst>
              <p:tags r:id="rId9"/>
            </p:custDataLst>
          </p:nvPr>
        </p:nvCxnSpPr>
        <p:spPr>
          <a:xfrm flipH="1" flipV="1">
            <a:off x="9984149" y="2719873"/>
            <a:ext cx="671067" cy="209367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27"/>
          <p:cNvCxnSpPr/>
          <p:nvPr>
            <p:custDataLst>
              <p:tags r:id="rId10"/>
            </p:custDataLst>
          </p:nvPr>
        </p:nvCxnSpPr>
        <p:spPr>
          <a:xfrm flipV="1">
            <a:off x="10010157" y="3075456"/>
            <a:ext cx="652713" cy="289265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28"/>
          <p:cNvCxnSpPr/>
          <p:nvPr>
            <p:custDataLst>
              <p:tags r:id="rId11"/>
            </p:custDataLst>
          </p:nvPr>
        </p:nvCxnSpPr>
        <p:spPr>
          <a:xfrm flipV="1">
            <a:off x="8119103" y="2020617"/>
            <a:ext cx="306266" cy="751315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46"/>
          <p:cNvCxnSpPr/>
          <p:nvPr>
            <p:custDataLst>
              <p:tags r:id="rId12"/>
            </p:custDataLst>
          </p:nvPr>
        </p:nvCxnSpPr>
        <p:spPr>
          <a:xfrm flipH="1">
            <a:off x="6865259" y="1765930"/>
            <a:ext cx="108071" cy="819551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51"/>
          <p:cNvCxnSpPr>
            <a:stCxn id="66" idx="1"/>
          </p:cNvCxnSpPr>
          <p:nvPr>
            <p:custDataLst>
              <p:tags r:id="rId13"/>
            </p:custDataLst>
          </p:nvPr>
        </p:nvCxnSpPr>
        <p:spPr>
          <a:xfrm flipH="1" flipV="1">
            <a:off x="8728687" y="2007579"/>
            <a:ext cx="821940" cy="508140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54"/>
          <p:cNvCxnSpPr>
            <a:stCxn id="56" idx="3"/>
            <a:endCxn id="64" idx="1"/>
          </p:cNvCxnSpPr>
          <p:nvPr>
            <p:custDataLst>
              <p:tags r:id="rId14"/>
            </p:custDataLst>
          </p:nvPr>
        </p:nvCxnSpPr>
        <p:spPr>
          <a:xfrm>
            <a:off x="9885526" y="1549169"/>
            <a:ext cx="723318" cy="433522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asted-image.tiff" descr="pasted-image.tiff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3832" y="3764219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1" name="Rectangle 2"/>
          <p:cNvSpPr/>
          <p:nvPr>
            <p:custDataLst>
              <p:tags r:id="rId15"/>
            </p:custDataLst>
          </p:nvPr>
        </p:nvSpPr>
        <p:spPr>
          <a:xfrm>
            <a:off x="6885399" y="3796314"/>
            <a:ext cx="225996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Attacker node</a:t>
            </a:r>
          </a:p>
        </p:txBody>
      </p:sp>
      <p:pic>
        <p:nvPicPr>
          <p:cNvPr id="102" name="pasted-image.tiff" descr="pasted-image.tiff"/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62945" y="3764219"/>
            <a:ext cx="433522" cy="433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3" name="Rectangle 53"/>
          <p:cNvSpPr/>
          <p:nvPr>
            <p:custDataLst>
              <p:tags r:id="rId16"/>
            </p:custDataLst>
          </p:nvPr>
        </p:nvSpPr>
        <p:spPr>
          <a:xfrm>
            <a:off x="9759332" y="3781183"/>
            <a:ext cx="24028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Helvetica Neue" charset="0"/>
              </a:rPr>
              <a:t>Defender node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6991" y="1814364"/>
            <a:ext cx="5838825" cy="3562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56235" y="24765"/>
            <a:ext cx="1106043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Community conflict model: Echo chambers </a:t>
            </a: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696088" y="4555816"/>
            <a:ext cx="5130295" cy="142282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775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attackers and defenders primarily reply to users of the same type</a:t>
            </a:r>
          </a:p>
          <a:p>
            <a:endParaRPr lang="en-US" altLang="zh-CN" sz="2800" dirty="0">
              <a:solidFill>
                <a:schemeClr val="dk1"/>
              </a:solidFill>
              <a:latin typeface="+mn-lt"/>
              <a:ea typeface="黑体" panose="02010609060101010101" charset="-122"/>
              <a:cs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7474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03225" y="205740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Community conflict prediction: LSTM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65170" y="5478780"/>
            <a:ext cx="55860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dk1"/>
                </a:solidFill>
                <a:latin typeface="Consolas" panose="020B0609020204030204" charset="0"/>
                <a:ea typeface="黑体" panose="02010609060101010101" charset="-122"/>
                <a:cs typeface="Consolas" panose="020B0609020204030204" charset="0"/>
              </a:rPr>
              <a:t> to improve the understanding and prediction of social media conflicts.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8457565" y="1841500"/>
            <a:ext cx="353441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dk1"/>
                </a:solidFill>
                <a:ea typeface="黑体" panose="02010609060101010101" charset="-122"/>
                <a:cs typeface="+mn-lt"/>
              </a:rPr>
              <a:t>an LSTM layer and social embeddings using GloVe pre-trained word vectors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dk1"/>
                </a:solidFill>
                <a:ea typeface="黑体" panose="02010609060101010101" charset="-122"/>
                <a:cs typeface="+mn-lt"/>
              </a:rPr>
              <a:t>The embedding layer consists of user embeddings, community embeddings, and word embeddings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76835" y="2674620"/>
            <a:ext cx="359346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dk1"/>
                </a:solidFill>
                <a:ea typeface="黑体" panose="02010609060101010101" charset="-122"/>
                <a:cs typeface="+mn-lt"/>
              </a:rPr>
              <a:t>dataset  loaded using pickle.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dk1"/>
                </a:solidFill>
                <a:ea typeface="黑体" panose="02010609060101010101" charset="-122"/>
                <a:cs typeface="+mn-lt"/>
              </a:rPr>
              <a:t>divided into training, validation and test batches.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dk1"/>
                </a:solidFill>
                <a:ea typeface="黑体" panose="02010609060101010101" charset="-122"/>
                <a:cs typeface="+mn-lt"/>
              </a:rPr>
              <a:t>Data transferred to GPU to accelerate training </a:t>
            </a: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>
            <a:clrChange>
              <a:clrFrom>
                <a:srgbClr val="FDFEFE">
                  <a:alpha val="100000"/>
                </a:srgbClr>
              </a:clrFrom>
              <a:clrTo>
                <a:srgbClr val="FD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9665" y="1531620"/>
            <a:ext cx="4482465" cy="37579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C0F9F14-5A27-4995-ACE8-713A7722C874}"/>
              </a:ext>
            </a:extLst>
          </p:cNvPr>
          <p:cNvSpPr/>
          <p:nvPr/>
        </p:nvSpPr>
        <p:spPr>
          <a:xfrm>
            <a:off x="2096191" y="4503791"/>
            <a:ext cx="8162369" cy="22718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2"/>
            </p:custDataLst>
          </p:nvPr>
        </p:nvSpPr>
        <p:spPr>
          <a:xfrm>
            <a:off x="8098797" y="6064219"/>
            <a:ext cx="1388110" cy="478790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3"/>
            </p:custDataLst>
          </p:nvPr>
        </p:nvSpPr>
        <p:spPr>
          <a:xfrm>
            <a:off x="4173220" y="5991829"/>
            <a:ext cx="1280160" cy="469265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圆角矩形 26"/>
          <p:cNvSpPr/>
          <p:nvPr>
            <p:custDataLst>
              <p:tags r:id="rId4"/>
            </p:custDataLst>
          </p:nvPr>
        </p:nvSpPr>
        <p:spPr>
          <a:xfrm>
            <a:off x="8125719" y="5437587"/>
            <a:ext cx="1388110" cy="478790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圆角矩形 23"/>
          <p:cNvSpPr/>
          <p:nvPr>
            <p:custDataLst>
              <p:tags r:id="rId5"/>
            </p:custDataLst>
          </p:nvPr>
        </p:nvSpPr>
        <p:spPr>
          <a:xfrm>
            <a:off x="3180015" y="5441732"/>
            <a:ext cx="2274570" cy="469265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32435" y="2639344"/>
            <a:ext cx="40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+mj-lt"/>
                <a:ea typeface="黑体" panose="02010609060101010101" charset="-122"/>
                <a:cs typeface="+mj-lt"/>
              </a:rPr>
              <a:t>How to generate graph?</a:t>
            </a:r>
          </a:p>
          <a:p>
            <a:endParaRPr lang="en-US" altLang="zh-CN" sz="2400" dirty="0">
              <a:solidFill>
                <a:schemeClr val="dk1"/>
              </a:solidFill>
              <a:latin typeface="+mj-lt"/>
              <a:ea typeface="黑体" panose="02010609060101010101" charset="-122"/>
              <a:cs typeface="+mj-lt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425572" y="5239167"/>
            <a:ext cx="1402715" cy="6718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sz="4000" b="1" dirty="0">
                <a:ln w="9525">
                  <a:solidFill>
                    <a:schemeClr val="lt1"/>
                  </a:solidFill>
                  <a:prstDash val="solid"/>
                </a:ln>
                <a:solidFill>
                  <a:schemeClr val="dk1"/>
                </a:solidFill>
                <a:effectLst>
                  <a:outerShdw blurRad="12700" dist="38100" dir="2700000" algn="tl" rotWithShape="0">
                    <a:schemeClr val="lt1">
                      <a:lumMod val="5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batch</a:t>
            </a:r>
          </a:p>
        </p:txBody>
      </p:sp>
      <p:sp>
        <p:nvSpPr>
          <p:cNvPr id="26" name="圆角矩形 25"/>
          <p:cNvSpPr/>
          <p:nvPr>
            <p:custDataLst>
              <p:tags r:id="rId8"/>
            </p:custDataLst>
          </p:nvPr>
        </p:nvSpPr>
        <p:spPr>
          <a:xfrm>
            <a:off x="8143242" y="4813641"/>
            <a:ext cx="1315085" cy="478790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圆角矩形 22"/>
          <p:cNvSpPr/>
          <p:nvPr>
            <p:custDataLst>
              <p:tags r:id="rId9"/>
            </p:custDataLst>
          </p:nvPr>
        </p:nvSpPr>
        <p:spPr>
          <a:xfrm>
            <a:off x="2506662" y="4804743"/>
            <a:ext cx="3333115" cy="469265"/>
          </a:xfrm>
          <a:prstGeom prst="roundRect">
            <a:avLst/>
          </a:prstGeom>
          <a:gradFill>
            <a:lin ang="5400000" scaled="0"/>
          </a:gradFill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2464435" y="4871591"/>
            <a:ext cx="858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Starting and </a:t>
            </a:r>
            <a:r>
              <a:rPr lang="en-US" altLang="zh-CN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E</a:t>
            </a:r>
            <a:r>
              <a:rPr lang="zh-CN" altLang="en-US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nding</a:t>
            </a:r>
            <a:r>
              <a:rPr lang="en-US" altLang="zh-CN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 Post name</a:t>
            </a:r>
            <a:r>
              <a:rPr lang="zh-CN" altLang="en-US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s        </a:t>
            </a:r>
            <a:r>
              <a:rPr lang="en-US" altLang="zh-CN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                             Edge Index</a:t>
            </a: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3175628" y="5488843"/>
            <a:ext cx="80949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  <a:latin typeface="+mj-lt"/>
                <a:ea typeface="黑体" panose="02010609060101010101" charset="-122"/>
                <a:cs typeface="+mj-lt"/>
              </a:rPr>
              <a:t>Subs name for Posts                                           Node Feature</a:t>
            </a: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163060" y="6073744"/>
            <a:ext cx="6850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Content                                                 Edge Feature</a:t>
            </a:r>
          </a:p>
        </p:txBody>
      </p:sp>
      <p:cxnSp>
        <p:nvCxnSpPr>
          <p:cNvPr id="14" name="直接箭头连接符 13"/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6146799" y="5043804"/>
            <a:ext cx="1561465" cy="1968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6146798" y="5639721"/>
            <a:ext cx="1561465" cy="1968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6146800" y="6283929"/>
            <a:ext cx="1561465" cy="1968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81977" y="352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Community conflict prediction: GCN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7841DED-CE1C-41C0-84AB-8EE5AB0DBB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8661" y="1167986"/>
            <a:ext cx="5948919" cy="30561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24120" y="6492875"/>
            <a:ext cx="1113148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[5] </a:t>
            </a:r>
            <a:r>
              <a:rPr lang="en-US" altLang="zh-CN" sz="1400" dirty="0" err="1">
                <a:solidFill>
                  <a:schemeClr val="dk1"/>
                </a:solidFill>
                <a:ea typeface="黑体" panose="02010609060101010101" charset="-122"/>
                <a:cs typeface="+mn-lt"/>
              </a:rPr>
              <a:t>EvolveGCN</a:t>
            </a:r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: Evolving Graph Convolutional Networks for Dynamic Graphs", </a:t>
            </a:r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  <a:hlinkClick r:id="rId7"/>
              </a:rPr>
              <a:t>Aldo Pareja</a:t>
            </a:r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, </a:t>
            </a:r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  <a:hlinkClick r:id="rId8"/>
              </a:rPr>
              <a:t>Giacomo </a:t>
            </a:r>
            <a:r>
              <a:rPr lang="en-US" altLang="zh-CN" sz="1400" dirty="0" err="1">
                <a:solidFill>
                  <a:schemeClr val="dk1"/>
                </a:solidFill>
                <a:ea typeface="黑体" panose="02010609060101010101" charset="-122"/>
                <a:cs typeface="+mn-lt"/>
                <a:hlinkClick r:id="rId8"/>
              </a:rPr>
              <a:t>Domeniconi</a:t>
            </a:r>
            <a:r>
              <a:rPr lang="en-US" altLang="zh-CN" sz="1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, AAAI 2020. 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644380" y="1690688"/>
            <a:ext cx="354762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Recent </a:t>
            </a:r>
            <a:r>
              <a:rPr lang="en-US" altLang="zh-CN" sz="2400" b="1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Node: subreddit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Node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LSTM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Edge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Text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Task: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edge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  <a:p>
            <a:r>
              <a:rPr lang="en-US" altLang="zh-CN" sz="2400" dirty="0">
                <a:solidFill>
                  <a:schemeClr val="dk1"/>
                </a:solidFill>
                <a:ea typeface="黑体" panose="02010609060101010101" charset="-122"/>
                <a:cs typeface="+mn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dk1"/>
              </a:solidFill>
              <a:ea typeface="黑体" panose="02010609060101010101" charset="-122"/>
              <a:cs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200" y="365125"/>
            <a:ext cx="1144143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dk1"/>
                </a:solidFill>
                <a:ea typeface="黑体" panose="02010609060101010101" charset="-122"/>
                <a:cs typeface="+mj-lt"/>
              </a:rPr>
              <a:t>Community conflict prediction: </a:t>
            </a:r>
            <a:r>
              <a:rPr lang="en-US" altLang="zh-CN" sz="4000" b="1" dirty="0" err="1">
                <a:solidFill>
                  <a:schemeClr val="dk1"/>
                </a:solidFill>
                <a:ea typeface="黑体" panose="02010609060101010101" charset="-122"/>
                <a:cs typeface="+mj-lt"/>
              </a:rPr>
              <a:t>EnvolveGCN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949" y="1842481"/>
            <a:ext cx="7975688" cy="372495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EE148CD-AF13-4085-900E-3066BFCB0B1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4371" y="85194"/>
            <a:ext cx="111525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dk1"/>
                </a:solidFill>
                <a:ea typeface="黑体" panose="02010609060101010101" charset="-122"/>
                <a:cs typeface="+mj-lt"/>
              </a:rPr>
              <a:t>Community conflict prediction: performance</a:t>
            </a:r>
            <a:endParaRPr lang="en-US" altLang="zh-CN" b="1" dirty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065739-F4CD-4603-A3E7-50E2812E1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" y="3158632"/>
            <a:ext cx="5964346" cy="3793595"/>
          </a:xfrm>
          <a:prstGeom prst="rect">
            <a:avLst/>
          </a:prstGeo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970655EF-9C61-4077-9275-B2C08673D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347881"/>
              </p:ext>
            </p:extLst>
          </p:nvPr>
        </p:nvGraphicFramePr>
        <p:xfrm>
          <a:off x="394371" y="1328975"/>
          <a:ext cx="5217214" cy="157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607">
                  <a:extLst>
                    <a:ext uri="{9D8B030D-6E8A-4147-A177-3AD203B41FA5}">
                      <a16:colId xmlns:a16="http://schemas.microsoft.com/office/drawing/2014/main" val="2396691498"/>
                    </a:ext>
                  </a:extLst>
                </a:gridCol>
                <a:gridCol w="2608607">
                  <a:extLst>
                    <a:ext uri="{9D8B030D-6E8A-4147-A177-3AD203B41FA5}">
                      <a16:colId xmlns:a16="http://schemas.microsoft.com/office/drawing/2014/main" val="2340371794"/>
                    </a:ext>
                  </a:extLst>
                </a:gridCol>
              </a:tblGrid>
              <a:tr h="351269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AUC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69148"/>
                  </a:ext>
                </a:extLst>
              </a:tr>
              <a:tr h="407239">
                <a:tc>
                  <a:txBody>
                    <a:bodyPr/>
                    <a:lstStyle/>
                    <a:p>
                      <a:r>
                        <a:rPr lang="en-US" altLang="zh-CN" dirty="0"/>
                        <a:t>LSTM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0. 75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22135"/>
                  </a:ext>
                </a:extLst>
              </a:tr>
              <a:tr h="433633">
                <a:tc>
                  <a:txBody>
                    <a:bodyPr/>
                    <a:lstStyle/>
                    <a:p>
                      <a:r>
                        <a:rPr lang="en-US" altLang="zh-CN" dirty="0"/>
                        <a:t>GCN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03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EGCN(dynamic)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56467"/>
                  </a:ext>
                </a:extLst>
              </a:tr>
            </a:tbl>
          </a:graphicData>
        </a:graphic>
      </p:graphicFrame>
      <p:pic>
        <p:nvPicPr>
          <p:cNvPr id="1025" name="Picture 1">
            <a:extLst>
              <a:ext uri="{FF2B5EF4-FFF2-40B4-BE49-F238E27FC236}">
                <a16:creationId xmlns:a16="http://schemas.microsoft.com/office/drawing/2014/main" id="{4F033AF2-EF7A-486B-8FEC-7D1458378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624" y="2026763"/>
            <a:ext cx="6225110" cy="306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7984139-7BED-4A30-B81F-65B29F098F6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4286" y="-274442"/>
            <a:ext cx="46590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13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4530" y="1548130"/>
            <a:ext cx="10515600" cy="4351338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粗简黑简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b="1" dirty="0">
                <a:solidFill>
                  <a:schemeClr val="dk1"/>
                </a:solidFill>
                <a:latin typeface="+mj-lt"/>
                <a:ea typeface="黑体" panose="02010609060101010101" charset="-122"/>
                <a:cs typeface="+mj-lt"/>
              </a:rPr>
              <a:t>The visualisation part 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dk1"/>
                </a:solidFill>
                <a:latin typeface="+mj-lt"/>
                <a:ea typeface="黑体" panose="02010609060101010101" charset="-122"/>
                <a:cs typeface="+mj-lt"/>
              </a:rPr>
              <a:t>uses Matplotlib and NetworkX libraries to convert the test data into graphs and colour the edges according to the actual and predicted labels, and then saves the graphical image</a:t>
            </a:r>
          </a:p>
        </p:txBody>
      </p:sp>
      <p:pic>
        <p:nvPicPr>
          <p:cNvPr id="7" name="图片 6" descr="graph_predicted_labels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4705" y="2897505"/>
            <a:ext cx="4175760" cy="417576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>
            <p:custDataLst>
              <p:tags r:id="rId4"/>
            </p:custDataLst>
          </p:nvPr>
        </p:nvCxnSpPr>
        <p:spPr>
          <a:xfrm>
            <a:off x="6333490" y="2814955"/>
            <a:ext cx="1687195" cy="56705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5"/>
            </p:custDataLst>
          </p:nvPr>
        </p:nvCxnSpPr>
        <p:spPr>
          <a:xfrm flipH="1">
            <a:off x="4236085" y="2897505"/>
            <a:ext cx="193675" cy="113347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 descr="graph_actual_labels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860" y="2729230"/>
            <a:ext cx="4071620" cy="40716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4530" y="365125"/>
            <a:ext cx="111525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dk1"/>
                </a:solidFill>
                <a:ea typeface="黑体" panose="02010609060101010101" charset="-122"/>
                <a:cs typeface="+mj-lt"/>
              </a:rPr>
              <a:t>Community conflict prediction: performance</a:t>
            </a:r>
            <a:endParaRPr lang="en-US" altLang="zh-CN" b="1" dirty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1"/>
          <p:cNvSpPr/>
          <p:nvPr userDrawn="1">
            <p:custDataLst>
              <p:tags r:id="rId2"/>
            </p:custDataLst>
          </p:nvPr>
        </p:nvSpPr>
        <p:spPr>
          <a:xfrm rot="21396009" flipH="1" flipV="1">
            <a:off x="-35560" y="6154420"/>
            <a:ext cx="12360910" cy="1071880"/>
          </a:xfrm>
          <a:custGeom>
            <a:avLst/>
            <a:gdLst>
              <a:gd name="connsiteX0" fmla="*/ 156781 w 12283612"/>
              <a:gd name="connsiteY0" fmla="*/ 0 h 1658609"/>
              <a:gd name="connsiteX1" fmla="*/ 12283612 w 12283612"/>
              <a:gd name="connsiteY1" fmla="*/ 1146291 h 1658609"/>
              <a:gd name="connsiteX2" fmla="*/ 12235186 w 12283612"/>
              <a:gd name="connsiteY2" fmla="*/ 1658609 h 1658609"/>
              <a:gd name="connsiteX3" fmla="*/ 0 w 12283612"/>
              <a:gd name="connsiteY3" fmla="*/ 1658609 h 1658609"/>
              <a:gd name="connsiteX4" fmla="*/ 156781 w 12283612"/>
              <a:gd name="connsiteY4" fmla="*/ 0 h 165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3612" h="1658609">
                <a:moveTo>
                  <a:pt x="156781" y="0"/>
                </a:moveTo>
                <a:lnTo>
                  <a:pt x="12283612" y="1146291"/>
                </a:lnTo>
                <a:lnTo>
                  <a:pt x="12235186" y="1658609"/>
                </a:lnTo>
                <a:lnTo>
                  <a:pt x="0" y="1658609"/>
                </a:lnTo>
                <a:lnTo>
                  <a:pt x="156781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ounded Rectangle 14"/>
          <p:cNvSpPr txBox="1"/>
          <p:nvPr>
            <p:custDataLst>
              <p:tags r:id="rId3"/>
            </p:custDataLst>
          </p:nvPr>
        </p:nvSpPr>
        <p:spPr>
          <a:xfrm>
            <a:off x="838200" y="1825625"/>
            <a:ext cx="8324654" cy="8704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lt1"/>
                </a:solidFill>
                <a:ea typeface="黑体" panose="02010609060101010101" charset="-122"/>
                <a:cs typeface="+mn-lt"/>
              </a:rPr>
              <a:t>Communities conflict</a:t>
            </a:r>
            <a:r>
              <a:rPr lang="en-US" altLang="zh-CN" dirty="0">
                <a:solidFill>
                  <a:schemeClr val="lt1"/>
                </a:solidFill>
                <a:ea typeface="黑体" panose="02010609060101010101" charset="-122"/>
                <a:cs typeface="+mn-lt"/>
              </a:rPr>
              <a:t>s</a:t>
            </a:r>
            <a:r>
              <a:rPr lang="en-US" dirty="0">
                <a:solidFill>
                  <a:schemeClr val="lt1"/>
                </a:solidFill>
                <a:ea typeface="黑体" panose="02010609060101010101" charset="-122"/>
                <a:cs typeface="+mn-lt"/>
              </a:rPr>
              <a:t> i</a:t>
            </a:r>
            <a:r>
              <a:rPr lang="en-US" altLang="zh-CN" dirty="0">
                <a:solidFill>
                  <a:schemeClr val="lt1"/>
                </a:solidFill>
                <a:ea typeface="黑体" panose="02010609060101010101" charset="-122"/>
                <a:cs typeface="+mn-lt"/>
              </a:rPr>
              <a:t>nitiated by core members</a:t>
            </a:r>
          </a:p>
        </p:txBody>
      </p:sp>
      <p:sp>
        <p:nvSpPr>
          <p:cNvPr id="5" name="Rounded Rectangle 14"/>
          <p:cNvSpPr txBox="1"/>
          <p:nvPr>
            <p:custDataLst>
              <p:tags r:id="rId4"/>
            </p:custDataLst>
          </p:nvPr>
        </p:nvSpPr>
        <p:spPr>
          <a:xfrm>
            <a:off x="838200" y="3024400"/>
            <a:ext cx="8277520" cy="7573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lt1"/>
                </a:solidFill>
                <a:latin typeface="+mj-lt"/>
                <a:ea typeface="黑体" panose="02010609060101010101" charset="-122"/>
                <a:cs typeface="+mj-lt"/>
              </a:rPr>
              <a:t>Conflicts create echo-chambers</a:t>
            </a:r>
          </a:p>
        </p:txBody>
      </p:sp>
      <p:sp>
        <p:nvSpPr>
          <p:cNvPr id="6" name="Rounded Rectangle 14"/>
          <p:cNvSpPr txBox="1"/>
          <p:nvPr>
            <p:custDataLst>
              <p:tags r:id="rId5"/>
            </p:custDataLst>
          </p:nvPr>
        </p:nvSpPr>
        <p:spPr>
          <a:xfrm>
            <a:off x="838200" y="4216194"/>
            <a:ext cx="8277520" cy="75732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lt1"/>
                </a:solidFill>
                <a:latin typeface="+mj-lt"/>
                <a:ea typeface="黑体" panose="02010609060101010101" charset="-122"/>
                <a:cs typeface="+mj-lt"/>
              </a:rPr>
              <a:t>Conflicts predicted with 0.78 AUC</a:t>
            </a:r>
          </a:p>
        </p:txBody>
      </p:sp>
      <p:sp>
        <p:nvSpPr>
          <p:cNvPr id="7" name="Rounded Rectangle 14"/>
          <p:cNvSpPr txBox="1"/>
          <p:nvPr>
            <p:custDataLst>
              <p:tags r:id="rId6"/>
            </p:custDataLst>
          </p:nvPr>
        </p:nvSpPr>
        <p:spPr>
          <a:xfrm>
            <a:off x="838199" y="5419643"/>
            <a:ext cx="10662501" cy="7573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lt1"/>
                </a:solidFill>
                <a:latin typeface="+mj-lt"/>
                <a:ea typeface="黑体" panose="02010609060101010101" charset="-122"/>
                <a:cs typeface="+mj-lt"/>
              </a:rPr>
              <a:t>Conflicts predicted in dynamic graph and LSTM beat static graph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dk1"/>
                </a:solidFill>
                <a:latin typeface="+mn-lt"/>
                <a:ea typeface="黑体" panose="02010609060101010101" charset="-122"/>
                <a:cs typeface="+mn-lt"/>
              </a:rPr>
              <a:t>Conclusion and Discussion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1925" y="2675098"/>
            <a:ext cx="9328150" cy="1508124"/>
          </a:xfrm>
        </p:spPr>
        <p:txBody>
          <a:bodyPr/>
          <a:lstStyle/>
          <a:p>
            <a:r>
              <a:rPr lang="en-US" altLang="zh-CN"/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FC3FC-2916-4AF0-8FF7-DBA0AAB1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BB114BF-EC5F-420F-AD63-68C514B0C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4003" y="175082"/>
            <a:ext cx="8307998" cy="52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765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wYzdmNjI5OWRmNGYxZDdjZGU1M2I3ZDU2NDkw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609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609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60925"/>
  <p:tag name="KSO_WM_TAG_VERSION" val="1.0"/>
  <p:tag name="KSO_WM_BEAUTIFY_FLAG" val="#wm#"/>
  <p:tag name="KSO_WM_TEMPLATE_THUMBS_INDEX" val="1、5、8、11、14、19、24、28、31、35、39、42、47、58"/>
  <p:tag name="KSO_WM_TEMPLATE_SUBCATEGORY" val="0"/>
  <p:tag name="KSO_WM_TEMPLATE_MASTER_TYPE" val="1"/>
  <p:tag name="KSO_WM_TEMPLATE_COLOR_TYP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60925"/>
  <p:tag name="KSO_WM_TAG_VERSION" val="1.0"/>
  <p:tag name="KSO_WM_SLIDE_ID" val="custom20160925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THUMBS_INDEX" val="1、5、8、11、14、19、24、28、31、35、39、42、47、58"/>
  <p:tag name="KSO_WM_TEMPLATE_SUBCATEGORY" val="0"/>
  <p:tag name="KSO_WM_TEMPLATE_MASTER_TYPE" val="1"/>
  <p:tag name="KSO_WM_TEMPLATE_COLOR_TYPE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60925"/>
  <p:tag name="KSO_WM_UNIT_TYPE" val="a"/>
  <p:tag name="KSO_WM_UNIT_INDEX" val="1"/>
  <p:tag name="KSO_WM_UNIT_ID" val="custom20160925_1*a*1"/>
  <p:tag name="KSO_WM_UNIT_LAYERLEVEL" val="1"/>
  <p:tag name="KSO_WM_UNIT_VALUE" val="12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-0.25"/>
  <p:tag name="KSO_WM_UNIT_TEXT_FILL_FORE_SCHEMECOLOR_INDEX" val="5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60925"/>
  <p:tag name="KSO_WM_UNIT_TYPE" val="b"/>
  <p:tag name="KSO_WM_UNIT_INDEX" val="1"/>
  <p:tag name="KSO_WM_UNIT_ID" val="custom20160925_1*b*1"/>
  <p:tag name="KSO_WM_UNIT_LAYERLEVEL" val="1"/>
  <p:tag name="KSO_WM_UNIT_VALUE" val="120"/>
  <p:tag name="KSO_WM_UNIT_ISCONTENTSTITLE" val="0"/>
  <p:tag name="KSO_WM_UNIT_HIGHLIGHT" val="0"/>
  <p:tag name="KSO_WM_UNIT_COMPATIBLE" val="0"/>
  <p:tag name="KSO_WM_UNIT_PRESET_TEXT_INDEX" val="4"/>
  <p:tag name="KSO_WM_UNIT_PRESET_TEXT_LEN" val="5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25"/>
  <p:tag name="KSO_WM_UNIT_TEXT_FILL_FORE_SCHEMECOLOR_INDEX" val="10"/>
  <p:tag name="KSO_WM_UNIT_TEXT_FILL_TYP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25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5"/>
  <p:tag name="KSO_WM_UNIT_LINE_FORE_SCHEMECOLOR_INDEX" val="16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5"/>
  <p:tag name="KSO_WM_UNIT_LINE_FORE_SCHEMECOLOR_INDEX" val="16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8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8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LINE_FORE_SCHEMECOLOR_INDEX_BRIGHTNESS" val="0"/>
  <p:tag name="KSO_WM_UNIT_TEXT_LINE_FORE_SCHEMECOLOR_INDEX" val="14"/>
  <p:tag name="KSO_WM_UNIT_TEXT_LINE_FILL_TYPE" val="2"/>
  <p:tag name="KSO_WM_UNIT_TEXT_SHADOW_SCHEMECOLOR_INDEX_BRIGHTNESS" val="-0.5"/>
  <p:tag name="KSO_WM_UNIT_TEXT_SHADOW_SCHEMECOLOR_INDEX" val="1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5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1_BRIGHTNESS" val="0.1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05"/>
  <p:tag name="KSO_WM_UNIT_FILL_FORE_SCHEMECOLOR_INDEX_2" val="8"/>
  <p:tag name="KSO_WM_UNIT_FILL_FORE_SCHEMECOLOR_INDEX_2_POS" val="0.5"/>
  <p:tag name="KSO_WM_UNIT_FILL_FORE_SCHEMECOLOR_INDEX_2_TRANS" val="0"/>
  <p:tag name="KSO_WM_UNIT_FILL_FORE_SCHEMECOLOR_INDEX_3_BRIGHTNESS" val="0.05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ORE_SCHEMECOLOR_INDEX_BRIGHTNESS" val="0"/>
  <p:tag name="KSO_WM_UNIT_LINE_FORE_SCHEMECOLOR_INDEX" val="5"/>
  <p:tag name="KSO_WM_UNIT_LINE_FILL_TYP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ORE_SCHEMECOLOR_INDEX_BRIGHTNESS" val="0"/>
  <p:tag name="KSO_WM_UNIT_LINE_FORE_SCHEMECOLOR_INDEX" val="5"/>
  <p:tag name="KSO_WM_UNIT_LINE_FILL_TYPE" val="2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6FBFB"/>
      </a:dk2>
      <a:lt2>
        <a:srgbClr val="FFFFFF"/>
      </a:lt2>
      <a:accent1>
        <a:srgbClr val="76BBC5"/>
      </a:accent1>
      <a:accent2>
        <a:srgbClr val="18576F"/>
      </a:accent2>
      <a:accent3>
        <a:srgbClr val="EB5A40"/>
      </a:accent3>
      <a:accent4>
        <a:srgbClr val="EEC56D"/>
      </a:accent4>
      <a:accent5>
        <a:srgbClr val="3B3838"/>
      </a:accent5>
      <a:accent6>
        <a:srgbClr val="B2B2B2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497</Words>
  <Application>Microsoft Office PowerPoint</Application>
  <PresentationFormat>宽屏</PresentationFormat>
  <Paragraphs>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等线 Light</vt:lpstr>
      <vt:lpstr>黑体</vt:lpstr>
      <vt:lpstr>华文中宋</vt:lpstr>
      <vt:lpstr>微软雅黑</vt:lpstr>
      <vt:lpstr>Arial</vt:lpstr>
      <vt:lpstr>Consolas</vt:lpstr>
      <vt:lpstr>Office 主题​​</vt:lpstr>
      <vt:lpstr>2_Office 主题​​</vt:lpstr>
      <vt:lpstr>Community conflict  analysis and prediction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conflict</dc:title>
  <dc:creator>melonhou</dc:creator>
  <cp:lastModifiedBy>melonhou</cp:lastModifiedBy>
  <cp:revision>19</cp:revision>
  <dcterms:created xsi:type="dcterms:W3CDTF">2024-06-02T12:13:00Z</dcterms:created>
  <dcterms:modified xsi:type="dcterms:W3CDTF">2024-06-02T17:31:43Z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213A21ECC0A84FCA962C256944E274E4_13</vt:lpwstr>
  </property>
  <property fmtid="{D5CDD505-2E9C-101B-9397-08002B2CF9AE}" pid="3" name="KSOProductBuildVer">
    <vt:lpwstr>2052-12.1.0.15374</vt:lpwstr>
  </property>
</Properties>
</file>